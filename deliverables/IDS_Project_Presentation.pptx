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897399b3e9b4550" /><Relationship Type="http://schemas.openxmlformats.org/officeDocument/2006/relationships/extended-properties" Target="/docProps/app.xml" Id="Re714ff4c25c344be" /><Relationship Type="http://schemas.openxmlformats.org/officeDocument/2006/relationships/officeDocument" Target="/ppt/presentation.xml" Id="R383784b261e84f16" /></Relationships>
</file>

<file path=ppt/presentation.xml><?xml version="1.0" encoding="utf-8"?>
<p:presentation xmlns:p="http://schemas.openxmlformats.org/presentationml/2006/main">
  <p:sldMasterIdLst>
    <p:sldMasterId xmlns:r="http://schemas.openxmlformats.org/officeDocument/2006/relationships" id="2147483648" r:id="R6f9c4ed97f894222"/>
  </p:sldMasterIdLst>
  <p:notesMasterIdLst>
    <p:notesMasterId xmlns:r="http://schemas.openxmlformats.org/officeDocument/2006/relationships" r:id="R87270b22525b49bd"/>
  </p:notesMasterIdLst>
  <p:sldIdLst>
    <p:sldId xmlns:r="http://schemas.openxmlformats.org/officeDocument/2006/relationships" id="256" r:id="Re312da0d8f054696"/>
    <p:sldId xmlns:r="http://schemas.openxmlformats.org/officeDocument/2006/relationships" id="257" r:id="Rcf3bdd7f6a634aa2"/>
    <p:sldId xmlns:r="http://schemas.openxmlformats.org/officeDocument/2006/relationships" id="258" r:id="Rb058e25dba36471d"/>
    <p:sldId xmlns:r="http://schemas.openxmlformats.org/officeDocument/2006/relationships" id="259" r:id="R975f308de6c64e23"/>
    <p:sldId xmlns:r="http://schemas.openxmlformats.org/officeDocument/2006/relationships" id="260" r:id="R238f2d76d6704591"/>
    <p:sldId xmlns:r="http://schemas.openxmlformats.org/officeDocument/2006/relationships" id="261" r:id="R2c55bd34668c4657"/>
    <p:sldId xmlns:r="http://schemas.openxmlformats.org/officeDocument/2006/relationships" id="262" r:id="R1388a8a5510b46a8"/>
    <p:sldId xmlns:r="http://schemas.openxmlformats.org/officeDocument/2006/relationships" id="263" r:id="Rf8e470324d5f4550"/>
    <p:sldId xmlns:r="http://schemas.openxmlformats.org/officeDocument/2006/relationships" id="264" r:id="R21863d18c15745b3"/>
    <p:sldId xmlns:r="http://schemas.openxmlformats.org/officeDocument/2006/relationships" id="265" r:id="Rf1f551aee6ea4fc9"/>
    <p:sldId xmlns:r="http://schemas.openxmlformats.org/officeDocument/2006/relationships" id="266" r:id="R8620f960623949fe"/>
    <p:sldId xmlns:r="http://schemas.openxmlformats.org/officeDocument/2006/relationships" id="267" r:id="R77a052b20f904838"/>
    <p:sldId xmlns:r="http://schemas.openxmlformats.org/officeDocument/2006/relationships" id="268" r:id="Rea04b01e3b484dc9"/>
    <p:sldId xmlns:r="http://schemas.openxmlformats.org/officeDocument/2006/relationships" id="269" r:id="R226ddd426bee44cc"/>
    <p:sldId xmlns:r="http://schemas.openxmlformats.org/officeDocument/2006/relationships" id="270" r:id="R03a18c26cd6a4603"/>
    <p:sldId xmlns:r="http://schemas.openxmlformats.org/officeDocument/2006/relationships" id="271" r:id="R617cc14bf35d4f45"/>
    <p:sldId xmlns:r="http://schemas.openxmlformats.org/officeDocument/2006/relationships" id="272" r:id="Rdbb15f63c83a49b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9972f66e1ba4153" /><Relationship Type="http://schemas.openxmlformats.org/officeDocument/2006/relationships/slideMaster" Target="/ppt/slideMasters/slideMaster1.xml" Id="R6f9c4ed97f894222" /><Relationship Type="http://schemas.openxmlformats.org/officeDocument/2006/relationships/notesMaster" Target="/ppt/notesMasters/notesMaster1.xml" Id="R87270b22525b49bd" /><Relationship Type="http://schemas.openxmlformats.org/officeDocument/2006/relationships/presProps" Target="/ppt/presProps.xml" Id="R9a5fafda5e87463c" /><Relationship Type="http://schemas.openxmlformats.org/officeDocument/2006/relationships/tableStyles" Target="/ppt/tableStyles.xml" Id="Rbea87e1918264036" /><Relationship Type="http://schemas.openxmlformats.org/officeDocument/2006/relationships/slide" Target="/ppt/slides/slide1.xml" Id="Re312da0d8f054696" /><Relationship Type="http://schemas.openxmlformats.org/officeDocument/2006/relationships/slide" Target="/ppt/slides/slide2.xml" Id="Rcf3bdd7f6a634aa2" /><Relationship Type="http://schemas.openxmlformats.org/officeDocument/2006/relationships/slide" Target="/ppt/slides/slide3.xml" Id="Rb058e25dba36471d" /><Relationship Type="http://schemas.openxmlformats.org/officeDocument/2006/relationships/slide" Target="/ppt/slides/slide4.xml" Id="R975f308de6c64e23" /><Relationship Type="http://schemas.openxmlformats.org/officeDocument/2006/relationships/slide" Target="/ppt/slides/slide5.xml" Id="R238f2d76d6704591" /><Relationship Type="http://schemas.openxmlformats.org/officeDocument/2006/relationships/slide" Target="/ppt/slides/slide6.xml" Id="R2c55bd34668c4657" /><Relationship Type="http://schemas.openxmlformats.org/officeDocument/2006/relationships/slide" Target="/ppt/slides/slide7.xml" Id="R1388a8a5510b46a8" /><Relationship Type="http://schemas.openxmlformats.org/officeDocument/2006/relationships/slide" Target="/ppt/slides/slide8.xml" Id="Rf8e470324d5f4550" /><Relationship Type="http://schemas.openxmlformats.org/officeDocument/2006/relationships/slide" Target="/ppt/slides/slide9.xml" Id="R21863d18c15745b3" /><Relationship Type="http://schemas.openxmlformats.org/officeDocument/2006/relationships/slide" Target="/ppt/slides/slide10.xml" Id="Rf1f551aee6ea4fc9" /><Relationship Type="http://schemas.openxmlformats.org/officeDocument/2006/relationships/slide" Target="/ppt/slides/slide11.xml" Id="R8620f960623949fe" /><Relationship Type="http://schemas.openxmlformats.org/officeDocument/2006/relationships/slide" Target="/ppt/slides/slide12.xml" Id="R77a052b20f904838" /><Relationship Type="http://schemas.openxmlformats.org/officeDocument/2006/relationships/slide" Target="/ppt/slides/slide13.xml" Id="Rea04b01e3b484dc9" /><Relationship Type="http://schemas.openxmlformats.org/officeDocument/2006/relationships/slide" Target="/ppt/slides/slide14.xml" Id="R226ddd426bee44cc" /><Relationship Type="http://schemas.openxmlformats.org/officeDocument/2006/relationships/slide" Target="/ppt/slides/slide15.xml" Id="R03a18c26cd6a4603" /><Relationship Type="http://schemas.openxmlformats.org/officeDocument/2006/relationships/slide" Target="/ppt/slides/slide16.xml" Id="R617cc14bf35d4f45" /><Relationship Type="http://schemas.openxmlformats.org/officeDocument/2006/relationships/slide" Target="/ppt/slides/slide17.xml" Id="Rdbb15f63c83a49b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dc260ceedb4f7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3daa274def34aba" /><Relationship Type="http://schemas.openxmlformats.org/officeDocument/2006/relationships/notesMaster" Target="/ppt/notesMasters/notesMaster1.xml" Id="R35115a6deba648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920a1e24d2d54e55" /><Relationship Type="http://schemas.openxmlformats.org/officeDocument/2006/relationships/notesMaster" Target="/ppt/notesMasters/notesMaster1.xml" Id="R9be1518d68044e7e" /></Relationships>
</file>

<file path=ppt/notesSlides/_rels/notesSlide3.xml.rels>&#65279;<?xml version="1.0" encoding="utf-8"?><Relationships xmlns="http://schemas.openxmlformats.org/package/2006/relationships"><Relationship Type="http://schemas.openxmlformats.org/officeDocument/2006/relationships/slide" Target="/ppt/slides/slide3.xml" Id="R26bf04a43ef34f2a" /><Relationship Type="http://schemas.openxmlformats.org/officeDocument/2006/relationships/notesMaster" Target="/ppt/notesMasters/notesMaster1.xml" Id="Rb39d0bd2e0134c03" /></Relationships>
</file>

<file path=ppt/notesSlides/_rels/notesSlide4.xml.rels>&#65279;<?xml version="1.0" encoding="utf-8"?><Relationships xmlns="http://schemas.openxmlformats.org/package/2006/relationships"><Relationship Type="http://schemas.openxmlformats.org/officeDocument/2006/relationships/slide" Target="/ppt/slides/slide4.xml" Id="R45098cf0dbfc437d" /><Relationship Type="http://schemas.openxmlformats.org/officeDocument/2006/relationships/notesMaster" Target="/ppt/notesMasters/notesMaster1.xml" Id="R2a941d3c7a114515"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726a74e0a84b4d" /><Relationship Type="http://schemas.openxmlformats.org/officeDocument/2006/relationships/notesMaster" Target="/ppt/notesMasters/notesMaster1.xml" Id="R093011721a3541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01dcdc5ebc44a3b" /><Relationship Type="http://schemas.openxmlformats.org/officeDocument/2006/relationships/notesMaster" Target="/ppt/notesMasters/notesMaster1.xml" Id="R11a6e545e79c4ba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a24642e37d4423" /><Relationship Type="http://schemas.openxmlformats.org/officeDocument/2006/relationships/notesMaster" Target="/ppt/notesMasters/notesMaster1.xml" Id="Ra5a11450c0924b07" /></Relationships>
</file>

<file path=ppt/notesSlides/_rels/notesSlide8.xml.rels>&#65279;<?xml version="1.0" encoding="utf-8"?><Relationships xmlns="http://schemas.openxmlformats.org/package/2006/relationships"><Relationship Type="http://schemas.openxmlformats.org/officeDocument/2006/relationships/slide" Target="/ppt/slides/slide8.xml" Id="R570d9381f3d34064" /><Relationship Type="http://schemas.openxmlformats.org/officeDocument/2006/relationships/notesMaster" Target="/ppt/notesMasters/notesMaster1.xml" Id="R0c3dc92183a8489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2ca666c5eaa44f9" /><Relationship Type="http://schemas.openxmlformats.org/officeDocument/2006/relationships/notesMaster" Target="/ppt/notesMasters/notesMaster1.xml" Id="Rfc0bff213419427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695452b0afc4551" /><Relationship Type="http://schemas.openxmlformats.org/officeDocument/2006/relationships/notesMaster" Target="/ppt/notesMasters/notesMaster1.xml" Id="Rf8b4f9b04dc947f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d9d3ca5423d4d02" /><Relationship Type="http://schemas.openxmlformats.org/officeDocument/2006/relationships/notesMaster" Target="/ppt/notesMasters/notesMaster1.xml" Id="R0369c50fa6c9494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715d394078d462a" /><Relationship Type="http://schemas.openxmlformats.org/officeDocument/2006/relationships/notesMaster" Target="/ppt/notesMasters/notesMaster1.xml" Id="Rdae67570492e48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b2bbdb55ad14f39" /><Relationship Type="http://schemas.openxmlformats.org/officeDocument/2006/relationships/notesMaster" Target="/ppt/notesMasters/notesMaster1.xml" Id="Rdf45099de2a741c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111365b57934244" /><Relationship Type="http://schemas.openxmlformats.org/officeDocument/2006/relationships/notesMaster" Target="/ppt/notesMasters/notesMaster1.xml" Id="Rc70409c37b4e4d1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249b0ee8f1a437f" /><Relationship Type="http://schemas.openxmlformats.org/officeDocument/2006/relationships/notesMaster" Target="/ppt/notesMasters/notesMaster1.xml" Id="R6c3b158581b1419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f7ed1badf00439c" /><Relationship Type="http://schemas.openxmlformats.org/officeDocument/2006/relationships/notesMaster" Target="/ppt/notesMasters/notesMaster1.xml" Id="Rebd4f94dcd4b4f3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17b17bc16904b65" /><Relationship Type="http://schemas.openxmlformats.org/officeDocument/2006/relationships/notesMaster" Target="/ppt/notesMasters/notesMaster1.xml" Id="Rd18284e88c4c46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project as offline classification of recorded network flows. Explain that the project includes an experiment pipeline and dashboard. It uses sampled CICIDS2017 data and credits Western OC2 Lab. Do not describe this as a deployed firewall.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input row summarizes one flow. A flow differs from a packet. The target label is known during training and predicted during inference. The implementation accepts recorded measurements and does not capture packets or automatically block traffic. Dataset documentation: https://www.unb.ca/cic/datasets/ids-2017.html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artifacts/metrics.json and artifacts/comparison.csv, local experiment, 22 October 2026. CICIDS2017 sample provided by Western OC2 Lab: https://github.com/Western-OC2-Lab/Intrusion-Detection-System-Using-Machine-Learning. The full original dataset has more traffic and collection metadata. These are counts after deduplication. Infiltration has only 36 distinct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Cleaning is deterministic and occurs before model fitting. Exact duplicate feature rows are removed before splitting. Missing-value imputation fits inside the model pipeline. Exact deduplication cannot guarantee independent flows. If features repeat with conflicting labels the first row is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split is 60/20/20. Training supports fitting and three-fold CV. Validation macro F1 selects a configuration. Refit the winner on training plus validation before evaluation. The same fixed test partition appeared in the initial prototype, so the final result is an internal benchmark, not independent external validation.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majority classifier establishes the baseline. Decision Tree, Random Forest and Extra Trees are standard tree methods. Histogram Gradient Boosting is scikit-learn boosting and is not XGBoost. Stacking combines a tree and Extra Trees through logistic regression using out-of-fold base predictions. Source: train.py and https://scikit-learn.org/stable/modules/ensemble.html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Tree search samples 12 settings from 40 possible combinations, with 3 folds per candidate on training data only. Maximum depth: 8,12,20,30 or unlimited. Minimum leaf size: 1,2,4,8. Criterion: gini or entropy. The 20-feature ANOVA selector fits inside each pipeline. Constant feature warnings appear in the log.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Validation macro F1 chooses the winner. The boosting margin over the original tree is small, so do not claim a statistically established improvement. More complex stacking did not help with this particular configuration.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scores use 3 folds of the training partition. Standard deviations are fold dispersion, not confidence intervals. The tuned tree score reuses the search folds and is an optimistic search diagnostic rather than nested CV. Random Forest leads the original tree in training CV but validation macro F1 chooses boosting.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selected configuration is Histogram Gradient Boosting, refitted on training plus validation. Report both accuracy and macro F1. The percentile bootstrap is stratified by label and uses 300 resamples. Its interval does not include model selection, correlated traffic or dataset shift.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precision, recall and support together. Infiltration is scarce, with just 7 test examples, so its perfect score is weak evidence. Bot has the lowest F1 in this run. Scores apply to this internal random split.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Rows show actual labels and columns show predicted labels. Abbreviated labels keep the native table readable. Brute means BruteForce, Infil means Infiltration, Port means PortScan, Web means WebAttack. The table contains the exact test confusion counts.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Collapsing the multiclass result to normal versus attack makes the operating errors clear. There are 22 false alarms among 4338 benign flows, and 9 missed attacks among 4473 attack flows. Other mistakes confuse attack classes. There is no separate alert-threshold optimization or calibrated confidence model.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launch.ps1 or the Streamlit command in the README. Model results displays metrics. Detect attacks classifies the supplied 25 held-out demo rows or a compatible uploaded CSV. Experiments shows the bounded search, intervals and error groups. Download predictions to inspect the labels. The saved pipeline contains imputation plus the selected classifier. Source: app.py, ids.py and verify.py.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provides the data hash, seed, pinned environment and partition identifiers. Re-running training rebuilds the fitted model and metric files; runtime measurements may vary. verify.py checks schema rejection and the actual Streamlit prediction interaction. Source: README.md, train.py and verify.py.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conclusion is limited to this sample benchmark. Boosting ranks first on validation macro F1 but its margin over a simple tree is narrow. Stacking, tuning and a smaller feature set did not automatically improve performance. Next evaluate by capture day or session from full source data. The current sample lacks the metadata needed for an honest chronological test. Source: artifacts/metrics.json and artifacts/comparison.csv, local experiment, 22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uses the sample provided by Western OC2 Lab. Original copyright and license are retained under reference/LICENSE. Cite the source research and data. The methods rely on scikit-learn documentation. No external decorative imagery is used.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fcde689bfe48f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578aa441594f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e2b0815e3384d0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7c3a0c9fc64bd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b5adcf06174a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4b3fbd67d394fd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3388E4-D5E6-4457-8984-7833102204C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EE8A85D-0937-4BAF-AFFF-39B287A4E40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7D9A935-5171-4C68-9095-0422AD040B6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5C2621-5740-4A29-8EAA-DBB6CA07A12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C8DEAA5-DC9B-4AA4-8EA1-F4C5A3F8DD0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F29036A-0B31-4C59-99B0-5A016C687D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51A8527-15BD-4F01-AF80-F67AC624BA2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58B2DBC-3A89-45D4-AA6B-064A219B2EB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1BE13B-A35B-4ADC-9703-BC9E76EFE0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2E9531B-5208-4954-8FF4-3F89A740C5F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f0c955fbc6e44b9" /><Relationship Type="http://schemas.openxmlformats.org/officeDocument/2006/relationships/slideLayout" Target="/ppt/slideLayouts/slideLayout1.xml" Id="R6d8ee97f47ee456c" /><Relationship Type="http://schemas.openxmlformats.org/officeDocument/2006/relationships/slideLayout" Target="/ppt/slideLayouts/slideLayout2.xml" Id="R4c9c56c0f29a4c8d" /><Relationship Type="http://schemas.openxmlformats.org/officeDocument/2006/relationships/slideLayout" Target="/ppt/slideLayouts/slideLayout3.xml" Id="Ra5e971fed3d04ef5" /><Relationship Type="http://schemas.openxmlformats.org/officeDocument/2006/relationships/slideLayout" Target="/ppt/slideLayouts/slideLayout4.xml" Id="Rc664f343d6c84bbe" /><Relationship Type="http://schemas.openxmlformats.org/officeDocument/2006/relationships/slideLayout" Target="/ppt/slideLayouts/slideLayout5.xml" Id="R273377bf94dd420d" /><Relationship Type="http://schemas.openxmlformats.org/officeDocument/2006/relationships/slideLayout" Target="/ppt/slideLayouts/slideLayout6.xml" Id="Rd9dcf521deb442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8ee97f47ee456c"/>
    <p:sldLayoutId xmlns:r="http://schemas.openxmlformats.org/officeDocument/2006/relationships" id="2147483650" r:id="R4c9c56c0f29a4c8d"/>
    <p:sldLayoutId xmlns:r="http://schemas.openxmlformats.org/officeDocument/2006/relationships" id="2147483651" r:id="Ra5e971fed3d04ef5"/>
    <p:sldLayoutId xmlns:r="http://schemas.openxmlformats.org/officeDocument/2006/relationships" id="2147483652" r:id="Rc664f343d6c84bbe"/>
    <p:sldLayoutId xmlns:r="http://schemas.openxmlformats.org/officeDocument/2006/relationships" id="2147483653" r:id="R273377bf94dd420d"/>
    <p:sldLayoutId xmlns:r="http://schemas.openxmlformats.org/officeDocument/2006/relationships" id="2147483654" r:id="Rd9dcf521deb442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7400531eaef4092" /><Relationship Type="http://schemas.openxmlformats.org/officeDocument/2006/relationships/notesSlide" Target="/ppt/notesSlides/notesSlide1.xml" Id="R2bb43925166f45a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0b95453c9604b84" /><Relationship Type="http://schemas.openxmlformats.org/officeDocument/2006/relationships/notesSlide" Target="/ppt/notesSlides/notesSlide2.xml" Id="Rc7fb014186044cf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5ac4e3baa04e38" /><Relationship Type="http://schemas.openxmlformats.org/officeDocument/2006/relationships/notesSlide" Target="/ppt/notesSlides/notesSlide3.xml" Id="R9e8254ea974944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8f38ac7c5d4926" /><Relationship Type="http://schemas.openxmlformats.org/officeDocument/2006/relationships/notesSlide" Target="/ppt/notesSlides/notesSlide4.xml" Id="Rf716a3174b08424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d9c1792e29480a" /><Relationship Type="http://schemas.openxmlformats.org/officeDocument/2006/relationships/chart" Target="/ppt/slides/charts/chart1.xml" Id="R05ccfeb117504634" /><Relationship Type="http://schemas.openxmlformats.org/officeDocument/2006/relationships/notesSlide" Target="/ppt/notesSlides/notesSlide5.xml" Id="Rac7a12171ea44e7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a5d2bc554af4f39" /><Relationship Type="http://schemas.openxmlformats.org/officeDocument/2006/relationships/notesSlide" Target="/ppt/notesSlides/notesSlide6.xml" Id="R40485dbfd1e44b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536f8f1196543b7" /><Relationship Type="http://schemas.openxmlformats.org/officeDocument/2006/relationships/notesSlide" Target="/ppt/notesSlides/notesSlide7.xml" Id="R858b2ec5b1ba4810"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a17885a23ffb4d17" /><Relationship Type="http://schemas.openxmlformats.org/officeDocument/2006/relationships/chart" Target="/ppt/slides/charts/chart2.xml" Id="Rc9649c86a1cf49be" /><Relationship Type="http://schemas.openxmlformats.org/officeDocument/2006/relationships/notesSlide" Target="/ppt/notesSlides/notesSlide8.xml" Id="Rc84b162ae4d64cd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502e4f112c8455d" /><Relationship Type="http://schemas.openxmlformats.org/officeDocument/2006/relationships/notesSlide" Target="/ppt/notesSlides/notesSlide9.xml" Id="Rbadd75acb3314c1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9b709a56de94e24" /><Relationship Type="http://schemas.openxmlformats.org/officeDocument/2006/relationships/notesSlide" Target="/ppt/notesSlides/notesSlide10.xml" Id="R3376a0df37b8415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64cb79619f44a32" /><Relationship Type="http://schemas.openxmlformats.org/officeDocument/2006/relationships/notesSlide" Target="/ppt/notesSlides/notesSlide11.xml" Id="Re78c9664f9ae402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afd44fa123dd4c22" /><Relationship Type="http://schemas.openxmlformats.org/officeDocument/2006/relationships/notesSlide" Target="/ppt/notesSlides/notesSlide12.xml" Id="R006bc423103f490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e1e1a927c77417b" /><Relationship Type="http://schemas.openxmlformats.org/officeDocument/2006/relationships/notesSlide" Target="/ppt/notesSlides/notesSlide13.xml" Id="R5816edbc457e483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894103d9906c4327" /><Relationship Type="http://schemas.openxmlformats.org/officeDocument/2006/relationships/notesSlide" Target="/ppt/notesSlides/notesSlide14.xml" Id="R384d105128d7425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ba9a06db963b49ce" /><Relationship Type="http://schemas.openxmlformats.org/officeDocument/2006/relationships/notesSlide" Target="/ppt/notesSlides/notesSlide15.xml" Id="R51cddf26f0c74d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40db3931c96478a" /><Relationship Type="http://schemas.openxmlformats.org/officeDocument/2006/relationships/notesSlide" Target="/ppt/notesSlides/notesSlide16.xml" Id="R931b080c2ebd4043"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4a0414a5dc24bee" /><Relationship Type="http://schemas.openxmlformats.org/officeDocument/2006/relationships/notesSlide" Target="/ppt/notesSlides/notesSlide17.xml" Id="R7a47dd3bcdf74147" /></Relationships>
</file>

<file path=ppt/slides/charts/chart1.xml><?xml version="1.0" encoding="utf-8"?>
<c:chartSpace xmlns:c="http://schemas.openxmlformats.org/drawingml/2006/chart">
  <c:lang val="en-US"/>
  <c:chart>
    <c:plotArea>
      <c:barChart>
        <c:barDir val="col"/>
        <c:grouping val="clustered"/>
        <c:varyColors val="0"/>
        <c:ser>
          <c:idx val="0"/>
          <c:order val="0"/>
          <c:tx>
            <c:v>Flows</c:v>
          </c:tx>
          <c:spPr>
            <a:solidFill xmlns:a="http://schemas.openxmlformats.org/drawingml/2006/main">
              <a:srgbClr val="087E8B"/>
            </a:solidFill>
          </c:spPr>
          <c:invertIfNegative val="0"/>
          <c:cat>
            <c:strLit>
              <c:ptCount val="3"/>
              <c:pt idx="0">
                <c:v>Training</c:v>
              </c:pt>
              <c:pt idx="1">
                <c:v>Validation</c:v>
              </c:pt>
              <c:pt idx="2">
                <c:v>Test</c:v>
              </c:pt>
            </c:strLit>
          </c:cat>
          <c:val>
            <c:numLit>
              <c:formatCode>#,##0</c:formatCode>
              <c:ptCount val="3"/>
              <c:pt idx="0">
                <c:v>26430</c:v>
              </c:pt>
              <c:pt idx="1">
                <c:v>8810</c:v>
              </c:pt>
              <c:pt idx="2">
                <c:v>8811</c:v>
              </c:pt>
            </c:numLit>
          </c:val>
        </c:ser>
        <c:dLbls>
          <c:numFmt formatCode="#,##0" sourceLinked="0"/>
          <c:txPr>
            <a:bodyPr xmlns:a="http://schemas.openxmlformats.org/drawingml/2006/main" anchorCtr="1"/>
            <a:lstStyle xmlns:a="http://schemas.openxmlformats.org/drawingml/2006/main"/>
            <a:p xmlns:a="http://schemas.openxmlformats.org/drawingml/2006/main">
              <a:pPr>
                <a:defRPr sz="1425">
                  <a:solidFill>
                    <a:srgbClr val="132F46"/>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875">
                <a:solidFill>
                  <a:srgbClr val="586B7B"/>
                </a:solidFill>
                <a:latin typeface="Arial"/>
                <a:ea typeface="Arial"/>
                <a:cs typeface="Arial"/>
              </a:defRPr>
            </a:pPr>
          </a:p>
        </c:txPr>
        <c:crossAx val="48672768"/>
      </c:catAx>
      <c:valAx>
        <c:axId val="48672768"/>
        <c:scaling>
          <c:orientation val="minMax"/>
          <c:max val="30000"/>
          <c:min val="0"/>
        </c:scaling>
        <c:delete val="0"/>
        <c:axPos val="l"/>
        <c:majorGridlines>
          <c:spPr>
            <a:ln xmlns:a="http://schemas.openxmlformats.org/drawingml/2006/main" w="9525">
              <a:solidFill>
                <a:srgbClr val="E2E8F0"/>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86B7B"/>
                </a:solidFill>
                <a:latin typeface="Arial"/>
                <a:ea typeface="Arial"/>
                <a:cs typeface="Arial"/>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bar"/>
        <c:grouping val="clustered"/>
        <c:varyColors val="0"/>
        <c:ser>
          <c:idx val="0"/>
          <c:order val="0"/>
          <c:tx>
            <c:v>Macro F1</c:v>
          </c:tx>
          <c:spPr>
            <a:solidFill xmlns:a="http://schemas.openxmlformats.org/drawingml/2006/main">
              <a:srgbClr val="087E8B"/>
            </a:solidFill>
          </c:spPr>
          <c:invertIfNegative val="0"/>
          <c:cat>
            <c:strLit>
              <c:ptCount val="8"/>
              <c:pt idx="0">
                <c:v>Majority baseline</c:v>
              </c:pt>
              <c:pt idx="1">
                <c:v>Decision Tree</c:v>
              </c:pt>
              <c:pt idx="2">
                <c:v>Tuned Decision Tree</c:v>
              </c:pt>
              <c:pt idx="3">
                <c:v>Random Forest</c:v>
              </c:pt>
              <c:pt idx="4">
                <c:v>Extra Trees</c:v>
              </c:pt>
              <c:pt idx="5">
                <c:v>Histogram boosting</c:v>
              </c:pt>
              <c:pt idx="6">
                <c:v>Top 20 features</c:v>
              </c:pt>
              <c:pt idx="7">
                <c:v>Stacking ensemble</c:v>
              </c:pt>
            </c:strLit>
          </c:cat>
          <c:val>
            <c:numLit>
              <c:formatCode>0.00</c:formatCode>
              <c:ptCount val="8"/>
              <c:pt idx="0">
                <c:v>0.09426746055891173</c:v>
              </c:pt>
              <c:pt idx="1">
                <c:v>0.9641250016552299</c:v>
              </c:pt>
              <c:pt idx="2">
                <c:v>0.9545914832207171</c:v>
              </c:pt>
              <c:pt idx="3">
                <c:v>0.9276816567622984</c:v>
              </c:pt>
              <c:pt idx="4">
                <c:v>0.9480843906505945</c:v>
              </c:pt>
              <c:pt idx="5">
                <c:v>0.9652827496164518</c:v>
              </c:pt>
              <c:pt idx="6">
                <c:v>0.914316347956183</c:v>
              </c:pt>
              <c:pt idx="7">
                <c:v>0.8502698404162861</c:v>
              </c:pt>
            </c:numLit>
          </c:val>
        </c:ser>
        <c:dLbls>
          <c:numFmt formatCode="0.0000" sourceLinked="0"/>
          <c:txPr>
            <a:bodyPr xmlns:a="http://schemas.openxmlformats.org/drawingml/2006/main" anchorCtr="1"/>
            <a:lstStyle xmlns:a="http://schemas.openxmlformats.org/drawingml/2006/main"/>
            <a:p xmlns:a="http://schemas.openxmlformats.org/drawingml/2006/main">
              <a:pPr>
                <a:defRPr sz="1425">
                  <a:solidFill>
                    <a:srgbClr val="132F46"/>
                  </a:solidFill>
                  <a:latin typeface="Arial"/>
                  <a:ea typeface="Arial"/>
                  <a:cs typeface="Arial"/>
                </a:defRPr>
              </a:pPr>
            </a:p>
          </c:txPr>
          <c:dLblPos val="outEnd"/>
          <c:showLegendKey val="0"/>
          <c:showVal val="1"/>
          <c:showCatName val="0"/>
          <c:showSerName val="0"/>
          <c:showPercent val="0"/>
          <c:showBubbleSize val="0"/>
          <c:showLeaderLines val="0"/>
        </c:dLbls>
        <c:gapWidth val="6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CBD5E1"/>
            </a:solidFill>
          </a:ln>
        </c:spPr>
        <c:txPr>
          <a:bodyPr xmlns:a="http://schemas.openxmlformats.org/drawingml/2006/main" anchorCtr="1"/>
          <a:lstStyle xmlns:a="http://schemas.openxmlformats.org/drawingml/2006/main"/>
          <a:p xmlns:a="http://schemas.openxmlformats.org/drawingml/2006/main">
            <a:pPr>
              <a:defRPr sz="1425">
                <a:solidFill>
                  <a:srgbClr val="586B7B"/>
                </a:solidFill>
                <a:latin typeface="Arial"/>
                <a:ea typeface="Arial"/>
                <a:cs typeface="Arial"/>
              </a:defRPr>
            </a:pPr>
          </a:p>
        </c:txPr>
        <c:crossAx val="48672768"/>
      </c:catAx>
      <c:valAx>
        <c:axId val="48672768"/>
        <c:scaling>
          <c:orientation val="minMax"/>
          <c:max val="1.08"/>
          <c:min val="0"/>
        </c:scaling>
        <c:delete val="0"/>
        <c:axPos val="b"/>
        <c:majorGridlines>
          <c:spPr>
            <a:ln xmlns:a="http://schemas.openxmlformats.org/drawingml/2006/main" w="9525">
              <a:solidFill>
                <a:srgbClr val="E2E8F0"/>
              </a:solidFill>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586B7B"/>
                </a:solidFill>
                <a:latin typeface="Arial"/>
                <a:ea typeface="Arial"/>
                <a:cs typeface="Arial"/>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132F46"/>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218AEC1-0626-4CB7-A1C7-B0B8ADB028C4}"/>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7D8DC"/>
                </a:solidFill>
              </a:defRPr>
            </a:defPPr>
            <a:lvl1pPr>
              <a:defRPr sz="1200" b="1">
                <a:solidFill>
                  <a:srgbClr val="97D8DC"/>
                </a:solidFill>
              </a:defRPr>
            </a:lvl1pPr>
            <a:lvl2pPr>
              <a:defRPr sz="1200" b="1">
                <a:solidFill>
                  <a:srgbClr val="97D8DC"/>
                </a:solidFill>
              </a:defRPr>
            </a:lvl2pPr>
            <a:lvl3pPr>
              <a:defRPr sz="1200" b="1">
                <a:solidFill>
                  <a:srgbClr val="97D8DC"/>
                </a:solidFill>
              </a:defRPr>
            </a:lvl3pPr>
            <a:lvl4pPr>
              <a:defRPr sz="1200" b="1">
                <a:solidFill>
                  <a:srgbClr val="97D8DC"/>
                </a:solidFill>
              </a:defRPr>
            </a:lvl4pPr>
            <a:lvl5pPr>
              <a:defRPr sz="1200" b="1">
                <a:solidFill>
                  <a:srgbClr val="97D8DC"/>
                </a:solidFill>
              </a:defRPr>
            </a:lvl5pPr>
            <a:lvl6pPr>
              <a:defRPr sz="1200" b="1">
                <a:solidFill>
                  <a:srgbClr val="97D8DC"/>
                </a:solidFill>
              </a:defRPr>
            </a:lvl6pPr>
            <a:lvl7pPr>
              <a:defRPr sz="1200" b="1">
                <a:solidFill>
                  <a:srgbClr val="97D8DC"/>
                </a:solidFill>
              </a:defRPr>
            </a:lvl7pPr>
            <a:lvl8pPr>
              <a:defRPr sz="1200" b="1">
                <a:solidFill>
                  <a:srgbClr val="97D8DC"/>
                </a:solidFill>
              </a:defRPr>
            </a:lvl8pPr>
            <a:lvl9pPr>
              <a:defRPr sz="1200" b="1">
                <a:solidFill>
                  <a:srgbClr val="97D8DC"/>
                </a:solidFill>
              </a:defRPr>
            </a:lvl9pPr>
          </a:lstStyle>
          <a:p xmlns:a="http://schemas.openxmlformats.org/drawingml/2006/main">
            <a:pPr>
              <a:defRPr sz="1200" b="1">
                <a:solidFill>
                  <a:srgbClr val="97D8DC"/>
                </a:solidFill>
              </a:defRPr>
            </a:pPr>
            <a:r>
              <a:rPr sz="1200" b="1">
                <a:solidFill>
                  <a:srgbClr val="97D8DC"/>
                </a:solidFill>
              </a:rPr>
              <a:t>PDEU   /   MACHINE LEARNING LABORATORY</a:t>
            </a:r>
          </a:p>
        </p:txBody>
      </p:sp>
      <p:sp>
        <p:nvSpPr>
          <p:cNvPr id="2" name="">
            <a:extLst xmlns:a="http://schemas.openxmlformats.org/drawingml/2006/main">
              <a:ext uri="{FF2B5EF4-FFF2-40B4-BE49-F238E27FC236}">
                <a16:creationId xmlns:a16="http://schemas.microsoft.com/office/drawing/2014/main" id="{369AE480-F1F4-4B1B-9A20-7816E895F238}"/>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defRPr>
            </a:defPPr>
            <a:lvl1pPr>
              <a:defRPr sz="3150" b="1">
                <a:solidFill>
                  <a:srgbClr val="FFFFFF"/>
                </a:solidFill>
              </a:defRPr>
            </a:lvl1pPr>
            <a:lvl2pPr>
              <a:defRPr sz="3150" b="1">
                <a:solidFill>
                  <a:srgbClr val="FFFFFF"/>
                </a:solidFill>
              </a:defRPr>
            </a:lvl2pPr>
            <a:lvl3pPr>
              <a:defRPr sz="3150" b="1">
                <a:solidFill>
                  <a:srgbClr val="FFFFFF"/>
                </a:solidFill>
              </a:defRPr>
            </a:lvl3pPr>
            <a:lvl4pPr>
              <a:defRPr sz="3150" b="1">
                <a:solidFill>
                  <a:srgbClr val="FFFFFF"/>
                </a:solidFill>
              </a:defRPr>
            </a:lvl4pPr>
            <a:lvl5pPr>
              <a:defRPr sz="3150" b="1">
                <a:solidFill>
                  <a:srgbClr val="FFFFFF"/>
                </a:solidFill>
              </a:defRPr>
            </a:lvl5pPr>
            <a:lvl6pPr>
              <a:defRPr sz="3150" b="1">
                <a:solidFill>
                  <a:srgbClr val="FFFFFF"/>
                </a:solidFill>
              </a:defRPr>
            </a:lvl6pPr>
            <a:lvl7pPr>
              <a:defRPr sz="3150" b="1">
                <a:solidFill>
                  <a:srgbClr val="FFFFFF"/>
                </a:solidFill>
              </a:defRPr>
            </a:lvl7pPr>
            <a:lvl8pPr>
              <a:defRPr sz="3150" b="1">
                <a:solidFill>
                  <a:srgbClr val="FFFFFF"/>
                </a:solidFill>
              </a:defRPr>
            </a:lvl8pPr>
            <a:lvl9pPr>
              <a:defRPr sz="3150" b="1">
                <a:solidFill>
                  <a:srgbClr val="FFFFFF"/>
                </a:solidFill>
              </a:defRPr>
            </a:lvl9pPr>
          </a:lstStyle>
          <a:p xmlns:a="http://schemas.openxmlformats.org/drawingml/2006/main">
            <a:pPr>
              <a:defRPr sz="3150" b="1">
                <a:solidFill>
                  <a:srgbClr val="FFFFFF"/>
                </a:solidFill>
              </a:defRPr>
            </a:pPr>
            <a:r>
              <a:rPr sz="3150" b="1">
                <a:solidFill>
                  <a:srgbClr val="FFFFFF"/>
                </a:solidFill>
              </a:rPr>
              <a:t>Network Intrusion Detection</a:t>
            </a:r>
          </a:p>
          <a:p xmlns:a="http://schemas.openxmlformats.org/drawingml/2006/main">
            <a:pPr>
              <a:defRPr sz="3150" b="1">
                <a:solidFill>
                  <a:srgbClr val="FFFFFF"/>
                </a:solidFill>
              </a:defRPr>
            </a:pPr>
            <a:r>
              <a:rPr sz="3150" b="1">
                <a:solidFill>
                  <a:srgbClr val="FFFFFF"/>
                </a:solidFill>
              </a:rPr>
              <a:t>Using Machine Learning</a:t>
            </a:r>
          </a:p>
        </p:txBody>
      </p:sp>
      <p:sp>
        <p:nvSpPr>
          <p:cNvPr id="3" name="">
            <a:extLst xmlns:a="http://schemas.openxmlformats.org/drawingml/2006/main">
              <a:ext uri="{FF2B5EF4-FFF2-40B4-BE49-F238E27FC236}">
                <a16:creationId xmlns:a16="http://schemas.microsoft.com/office/drawing/2014/main" id="{0C28214C-CA3B-41C8-A655-3F923CDCEF73}"/>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7CEDB"/>
                </a:solidFill>
              </a:defRPr>
            </a:defPPr>
            <a:lvl1pPr>
              <a:defRPr sz="1125" b="0">
                <a:solidFill>
                  <a:srgbClr val="B7CEDB"/>
                </a:solidFill>
              </a:defRPr>
            </a:lvl1pPr>
            <a:lvl2pPr>
              <a:defRPr sz="1125" b="0">
                <a:solidFill>
                  <a:srgbClr val="B7CEDB"/>
                </a:solidFill>
              </a:defRPr>
            </a:lvl2pPr>
            <a:lvl3pPr>
              <a:defRPr sz="1125" b="0">
                <a:solidFill>
                  <a:srgbClr val="B7CEDB"/>
                </a:solidFill>
              </a:defRPr>
            </a:lvl3pPr>
            <a:lvl4pPr>
              <a:defRPr sz="1125" b="0">
                <a:solidFill>
                  <a:srgbClr val="B7CEDB"/>
                </a:solidFill>
              </a:defRPr>
            </a:lvl4pPr>
            <a:lvl5pPr>
              <a:defRPr sz="1125" b="0">
                <a:solidFill>
                  <a:srgbClr val="B7CEDB"/>
                </a:solidFill>
              </a:defRPr>
            </a:lvl5pPr>
            <a:lvl6pPr>
              <a:defRPr sz="1125" b="0">
                <a:solidFill>
                  <a:srgbClr val="B7CEDB"/>
                </a:solidFill>
              </a:defRPr>
            </a:lvl6pPr>
            <a:lvl7pPr>
              <a:defRPr sz="1125" b="0">
                <a:solidFill>
                  <a:srgbClr val="B7CEDB"/>
                </a:solidFill>
              </a:defRPr>
            </a:lvl7pPr>
            <a:lvl8pPr>
              <a:defRPr sz="1125" b="0">
                <a:solidFill>
                  <a:srgbClr val="B7CEDB"/>
                </a:solidFill>
              </a:defRPr>
            </a:lvl8pPr>
            <a:lvl9pPr>
              <a:defRPr sz="1125" b="0">
                <a:solidFill>
                  <a:srgbClr val="B7CEDB"/>
                </a:solidFill>
              </a:defRPr>
            </a:lvl9pPr>
          </a:lstStyle>
          <a:p xmlns:a="http://schemas.openxmlformats.org/drawingml/2006/main">
            <a:pPr>
              <a:defRPr sz="1125" b="0">
                <a:solidFill>
                  <a:srgbClr val="B7CEDB"/>
                </a:solidFill>
              </a:defRPr>
            </a:pPr>
            <a:r>
              <a:rPr sz="1125" b="0">
                <a:solidFill>
                  <a:srgbClr val="B7CEDB"/>
                </a:solidFill>
              </a:rPr>
              <a:t>Payas Vaishnav   •   23BCP430</a:t>
            </a:r>
          </a:p>
        </p:txBody>
      </p:sp>
      <p:sp>
        <p:nvSpPr>
          <p:cNvPr id="4" name="">
            <a:extLst xmlns:a="http://schemas.openxmlformats.org/drawingml/2006/main">
              <a:ext uri="{FF2B5EF4-FFF2-40B4-BE49-F238E27FC236}">
                <a16:creationId xmlns:a16="http://schemas.microsoft.com/office/drawing/2014/main" id="{923E2658-A7B0-4079-9621-D5FDC24F0A0D}"/>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7CEDB"/>
                </a:solidFill>
              </a:defRPr>
            </a:defPPr>
            <a:lvl1pPr>
              <a:defRPr sz="1125" b="0">
                <a:solidFill>
                  <a:srgbClr val="B7CEDB"/>
                </a:solidFill>
              </a:defRPr>
            </a:lvl1pPr>
            <a:lvl2pPr>
              <a:defRPr sz="1125" b="0">
                <a:solidFill>
                  <a:srgbClr val="B7CEDB"/>
                </a:solidFill>
              </a:defRPr>
            </a:lvl2pPr>
            <a:lvl3pPr>
              <a:defRPr sz="1125" b="0">
                <a:solidFill>
                  <a:srgbClr val="B7CEDB"/>
                </a:solidFill>
              </a:defRPr>
            </a:lvl3pPr>
            <a:lvl4pPr>
              <a:defRPr sz="1125" b="0">
                <a:solidFill>
                  <a:srgbClr val="B7CEDB"/>
                </a:solidFill>
              </a:defRPr>
            </a:lvl4pPr>
            <a:lvl5pPr>
              <a:defRPr sz="1125" b="0">
                <a:solidFill>
                  <a:srgbClr val="B7CEDB"/>
                </a:solidFill>
              </a:defRPr>
            </a:lvl5pPr>
            <a:lvl6pPr>
              <a:defRPr sz="1125" b="0">
                <a:solidFill>
                  <a:srgbClr val="B7CEDB"/>
                </a:solidFill>
              </a:defRPr>
            </a:lvl6pPr>
            <a:lvl7pPr>
              <a:defRPr sz="1125" b="0">
                <a:solidFill>
                  <a:srgbClr val="B7CEDB"/>
                </a:solidFill>
              </a:defRPr>
            </a:lvl7pPr>
            <a:lvl8pPr>
              <a:defRPr sz="1125" b="0">
                <a:solidFill>
                  <a:srgbClr val="B7CEDB"/>
                </a:solidFill>
              </a:defRPr>
            </a:lvl8pPr>
            <a:lvl9pPr>
              <a:defRPr sz="1125" b="0">
                <a:solidFill>
                  <a:srgbClr val="B7CEDB"/>
                </a:solidFill>
              </a:defRPr>
            </a:lvl9pPr>
          </a:lstStyle>
          <a:p xmlns:a="http://schemas.openxmlformats.org/drawingml/2006/main">
            <a:pPr>
              <a:defRPr sz="1125" b="0">
                <a:solidFill>
                  <a:srgbClr val="B7CEDB"/>
                </a:solidFill>
              </a:defRPr>
            </a:pPr>
            <a:r>
              <a:rPr sz="1125" b="0">
                <a:solidFill>
                  <a:srgbClr val="B7CEDB"/>
                </a:solidFill>
              </a:rPr>
              <a:t>01</a:t>
            </a:r>
          </a:p>
        </p:txBody>
      </p:sp>
      <p:sp>
        <p:nvSpPr>
          <p:cNvPr id="5" name="">
            <a:extLst xmlns:a="http://schemas.openxmlformats.org/drawingml/2006/main">
              <a:ext uri="{FF2B5EF4-FFF2-40B4-BE49-F238E27FC236}">
                <a16:creationId xmlns:a16="http://schemas.microsoft.com/office/drawing/2014/main" id="{13DEB465-112C-41A8-84C2-52366A015D38}"/>
              </a:ext>
            </a:extLst>
          </p:cNvPr>
          <p:cNvSpPr>
            <a:spLocks xmlns:a="http://schemas.openxmlformats.org/drawingml/2006/main" noGrp="1"/>
          </p:cNvSpPr>
          <p:nvPr/>
        </p:nvSpPr>
        <p:spPr>
          <a:xfrm xmlns:a="http://schemas.openxmlformats.org/drawingml/2006/main">
            <a:off x="685800" y="2914650"/>
            <a:ext cx="1057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9DCE5"/>
                </a:solidFill>
              </a:defRPr>
            </a:defPPr>
            <a:lvl1pPr>
              <a:defRPr sz="2250" b="0">
                <a:solidFill>
                  <a:srgbClr val="B9DCE5"/>
                </a:solidFill>
              </a:defRPr>
            </a:lvl1pPr>
            <a:lvl2pPr>
              <a:defRPr sz="2250" b="0">
                <a:solidFill>
                  <a:srgbClr val="B9DCE5"/>
                </a:solidFill>
              </a:defRPr>
            </a:lvl2pPr>
            <a:lvl3pPr>
              <a:defRPr sz="2250" b="0">
                <a:solidFill>
                  <a:srgbClr val="B9DCE5"/>
                </a:solidFill>
              </a:defRPr>
            </a:lvl3pPr>
            <a:lvl4pPr>
              <a:defRPr sz="2250" b="0">
                <a:solidFill>
                  <a:srgbClr val="B9DCE5"/>
                </a:solidFill>
              </a:defRPr>
            </a:lvl4pPr>
            <a:lvl5pPr>
              <a:defRPr sz="2250" b="0">
                <a:solidFill>
                  <a:srgbClr val="B9DCE5"/>
                </a:solidFill>
              </a:defRPr>
            </a:lvl5pPr>
            <a:lvl6pPr>
              <a:defRPr sz="2250" b="0">
                <a:solidFill>
                  <a:srgbClr val="B9DCE5"/>
                </a:solidFill>
              </a:defRPr>
            </a:lvl6pPr>
            <a:lvl7pPr>
              <a:defRPr sz="2250" b="0">
                <a:solidFill>
                  <a:srgbClr val="B9DCE5"/>
                </a:solidFill>
              </a:defRPr>
            </a:lvl7pPr>
            <a:lvl8pPr>
              <a:defRPr sz="2250" b="0">
                <a:solidFill>
                  <a:srgbClr val="B9DCE5"/>
                </a:solidFill>
              </a:defRPr>
            </a:lvl8pPr>
            <a:lvl9pPr>
              <a:defRPr sz="2250" b="0">
                <a:solidFill>
                  <a:srgbClr val="B9DCE5"/>
                </a:solidFill>
              </a:defRPr>
            </a:lvl9pPr>
          </a:lstStyle>
          <a:p xmlns:a="http://schemas.openxmlformats.org/drawingml/2006/main">
            <a:pPr>
              <a:defRPr sz="2250" b="0">
                <a:solidFill>
                  <a:srgbClr val="B9DCE5"/>
                </a:solidFill>
              </a:defRPr>
            </a:pPr>
            <a:r>
              <a:rPr sz="2250" b="0">
                <a:solidFill>
                  <a:srgbClr val="B9DCE5"/>
                </a:solidFill>
              </a:rPr>
              <a:t>Comparative evaluation on sampled CICIDS2017 traffic</a:t>
            </a:r>
          </a:p>
        </p:txBody>
      </p:sp>
      <p:sp>
        <p:nvSpPr>
          <p:cNvPr id="6" name="">
            <a:extLst xmlns:a="http://schemas.openxmlformats.org/drawingml/2006/main">
              <a:ext uri="{FF2B5EF4-FFF2-40B4-BE49-F238E27FC236}">
                <a16:creationId xmlns:a16="http://schemas.microsoft.com/office/drawing/2014/main" id="{7CCD6D1D-1895-4CE4-A1D5-1C39B895C404}"/>
              </a:ext>
            </a:extLst>
          </p:cNvPr>
          <p:cNvSpPr>
            <a:spLocks xmlns:a="http://schemas.openxmlformats.org/drawingml/2006/main" noGrp="1"/>
          </p:cNvSpPr>
          <p:nvPr/>
        </p:nvSpPr>
        <p:spPr>
          <a:xfrm xmlns:a="http://schemas.openxmlformats.org/drawingml/2006/main">
            <a:off x="685800" y="4238625"/>
            <a:ext cx="10477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FFFFFF"/>
                </a:solidFill>
              </a:defRPr>
            </a:defPPr>
            <a:lvl1pPr>
              <a:defRPr sz="2175" b="1">
                <a:solidFill>
                  <a:srgbClr val="FFFFFF"/>
                </a:solidFill>
              </a:defRPr>
            </a:lvl1pPr>
            <a:lvl2pPr>
              <a:defRPr sz="2175" b="1">
                <a:solidFill>
                  <a:srgbClr val="FFFFFF"/>
                </a:solidFill>
              </a:defRPr>
            </a:lvl2pPr>
            <a:lvl3pPr>
              <a:defRPr sz="2175" b="1">
                <a:solidFill>
                  <a:srgbClr val="FFFFFF"/>
                </a:solidFill>
              </a:defRPr>
            </a:lvl3pPr>
            <a:lvl4pPr>
              <a:defRPr sz="2175" b="1">
                <a:solidFill>
                  <a:srgbClr val="FFFFFF"/>
                </a:solidFill>
              </a:defRPr>
            </a:lvl4pPr>
            <a:lvl5pPr>
              <a:defRPr sz="2175" b="1">
                <a:solidFill>
                  <a:srgbClr val="FFFFFF"/>
                </a:solidFill>
              </a:defRPr>
            </a:lvl5pPr>
            <a:lvl6pPr>
              <a:defRPr sz="2175" b="1">
                <a:solidFill>
                  <a:srgbClr val="FFFFFF"/>
                </a:solidFill>
              </a:defRPr>
            </a:lvl6pPr>
            <a:lvl7pPr>
              <a:defRPr sz="2175" b="1">
                <a:solidFill>
                  <a:srgbClr val="FFFFFF"/>
                </a:solidFill>
              </a:defRPr>
            </a:lvl7pPr>
            <a:lvl8pPr>
              <a:defRPr sz="2175" b="1">
                <a:solidFill>
                  <a:srgbClr val="FFFFFF"/>
                </a:solidFill>
              </a:defRPr>
            </a:lvl8pPr>
            <a:lvl9pPr>
              <a:defRPr sz="2175" b="1">
                <a:solidFill>
                  <a:srgbClr val="FFFFFF"/>
                </a:solidFill>
              </a:defRPr>
            </a:lvl9pPr>
          </a:lstStyle>
          <a:p xmlns:a="http://schemas.openxmlformats.org/drawingml/2006/main">
            <a:pPr>
              <a:defRPr sz="2175" b="1">
                <a:solidFill>
                  <a:srgbClr val="FFFFFF"/>
                </a:solidFill>
              </a:defRPr>
            </a:pPr>
            <a:r>
              <a:rPr sz="2175" b="1">
                <a:solidFill>
                  <a:srgbClr val="FFFFFF"/>
                </a:solidFill>
              </a:rPr>
              <a:t>Payas Vaishnav   /   23BCP430</a:t>
            </a:r>
          </a:p>
        </p:txBody>
      </p:sp>
      <p:sp>
        <p:nvSpPr>
          <p:cNvPr id="7" name="">
            <a:extLst xmlns:a="http://schemas.openxmlformats.org/drawingml/2006/main">
              <a:ext uri="{FF2B5EF4-FFF2-40B4-BE49-F238E27FC236}">
                <a16:creationId xmlns:a16="http://schemas.microsoft.com/office/drawing/2014/main" id="{7B6DFB9B-3447-4475-8E3A-3812777A12B5}"/>
              </a:ext>
            </a:extLst>
          </p:cNvPr>
          <p:cNvSpPr>
            <a:spLocks xmlns:a="http://schemas.openxmlformats.org/drawingml/2006/main" noGrp="1"/>
          </p:cNvSpPr>
          <p:nvPr/>
        </p:nvSpPr>
        <p:spPr>
          <a:xfrm xmlns:a="http://schemas.openxmlformats.org/drawingml/2006/main">
            <a:off x="685800" y="4810125"/>
            <a:ext cx="10477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B7CEDB"/>
                </a:solidFill>
              </a:defRPr>
            </a:defPPr>
            <a:lvl1pPr>
              <a:defRPr sz="1800" b="0">
                <a:solidFill>
                  <a:srgbClr val="B7CEDB"/>
                </a:solidFill>
              </a:defRPr>
            </a:lvl1pPr>
            <a:lvl2pPr>
              <a:defRPr sz="1800" b="0">
                <a:solidFill>
                  <a:srgbClr val="B7CEDB"/>
                </a:solidFill>
              </a:defRPr>
            </a:lvl2pPr>
            <a:lvl3pPr>
              <a:defRPr sz="1800" b="0">
                <a:solidFill>
                  <a:srgbClr val="B7CEDB"/>
                </a:solidFill>
              </a:defRPr>
            </a:lvl3pPr>
            <a:lvl4pPr>
              <a:defRPr sz="1800" b="0">
                <a:solidFill>
                  <a:srgbClr val="B7CEDB"/>
                </a:solidFill>
              </a:defRPr>
            </a:lvl4pPr>
            <a:lvl5pPr>
              <a:defRPr sz="1800" b="0">
                <a:solidFill>
                  <a:srgbClr val="B7CEDB"/>
                </a:solidFill>
              </a:defRPr>
            </a:lvl5pPr>
            <a:lvl6pPr>
              <a:defRPr sz="1800" b="0">
                <a:solidFill>
                  <a:srgbClr val="B7CEDB"/>
                </a:solidFill>
              </a:defRPr>
            </a:lvl6pPr>
            <a:lvl7pPr>
              <a:defRPr sz="1800" b="0">
                <a:solidFill>
                  <a:srgbClr val="B7CEDB"/>
                </a:solidFill>
              </a:defRPr>
            </a:lvl7pPr>
            <a:lvl8pPr>
              <a:defRPr sz="1800" b="0">
                <a:solidFill>
                  <a:srgbClr val="B7CEDB"/>
                </a:solidFill>
              </a:defRPr>
            </a:lvl8pPr>
            <a:lvl9pPr>
              <a:defRPr sz="1800" b="0">
                <a:solidFill>
                  <a:srgbClr val="B7CEDB"/>
                </a:solidFill>
              </a:defRPr>
            </a:lvl9pPr>
          </a:lstStyle>
          <a:p xmlns:a="http://schemas.openxmlformats.org/drawingml/2006/main">
            <a:pPr>
              <a:defRPr sz="1800" b="0">
                <a:solidFill>
                  <a:srgbClr val="B7CEDB"/>
                </a:solidFill>
              </a:defRPr>
            </a:pPr>
            <a:r>
              <a:rPr sz="1800" b="0">
                <a:solidFill>
                  <a:srgbClr val="B7CEDB"/>
                </a:solidFill>
              </a:rPr>
              <a:t>CSE, PDEU   •   Semester 7</a:t>
            </a:r>
          </a:p>
          <a:p xmlns:a="http://schemas.openxmlformats.org/drawingml/2006/main">
            <a:pPr>
              <a:defRPr sz="1800" b="0">
                <a:solidFill>
                  <a:srgbClr val="B7CEDB"/>
                </a:solidFill>
              </a:defRPr>
            </a:pPr>
            <a:r>
              <a:rPr sz="1800" b="0">
                <a:solidFill>
                  <a:srgbClr val="B7CEDB"/>
                </a:solidFill>
              </a:rPr>
              <a:t>Faculty guide: Dr Nandini Modi</a:t>
            </a:r>
          </a:p>
        </p:txBody>
      </p:sp>
    </p:spTree>
    <p:extLst>
      <p:ext uri="{BB962C8B-B14F-4D97-AF65-F5344CB8AC3E}">
        <p14:creationId xmlns:p14="http://schemas.microsoft.com/office/powerpoint/2010/main" val="1324248233"/>
      </p:ext>
    </p:extLst>
  </p:cSld>
</p:sld>
</file>

<file path=ppt/slides/slide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806487-3792-483C-BBC9-DE0940419E65}"/>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B76BF462-1E5F-4AB5-BBBE-CF4B908953BD}"/>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The traffic classification problem</a:t>
            </a:r>
          </a:p>
        </p:txBody>
      </p:sp>
      <p:sp>
        <p:nvSpPr>
          <p:cNvPr id="3" name="">
            <a:extLst xmlns:a="http://schemas.openxmlformats.org/drawingml/2006/main">
              <a:ext uri="{FF2B5EF4-FFF2-40B4-BE49-F238E27FC236}">
                <a16:creationId xmlns:a16="http://schemas.microsoft.com/office/drawing/2014/main" id="{7CD56F3B-6C38-401C-9FBE-A8CB26FA3CE6}"/>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BBCD53BA-3DCE-42DF-96F3-CEAAA3E49786}"/>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02</a:t>
            </a:r>
          </a:p>
        </p:txBody>
      </p:sp>
      <p:sp>
        <p:nvSpPr>
          <p:cNvPr id="5" name="">
            <a:extLst xmlns:a="http://schemas.openxmlformats.org/drawingml/2006/main">
              <a:ext uri="{FF2B5EF4-FFF2-40B4-BE49-F238E27FC236}">
                <a16:creationId xmlns:a16="http://schemas.microsoft.com/office/drawing/2014/main" id="{0C6A990B-24CB-4EC6-B8E4-E8B84AA052EA}"/>
              </a:ext>
            </a:extLst>
          </p:cNvPr>
          <p:cNvSpPr>
            <a:spLocks xmlns:a="http://schemas.openxmlformats.org/drawingml/2006/main" noGrp="1"/>
          </p:cNvSpPr>
          <p:nvPr/>
        </p:nvSpPr>
        <p:spPr>
          <a:xfrm xmlns:a="http://schemas.openxmlformats.org/drawingml/2006/main">
            <a:off x="685800" y="1952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087E8B"/>
                </a:solidFill>
              </a:defRPr>
            </a:defPPr>
            <a:lvl1pPr>
              <a:defRPr sz="1650" b="1">
                <a:solidFill>
                  <a:srgbClr val="087E8B"/>
                </a:solidFill>
              </a:defRPr>
            </a:lvl1pPr>
            <a:lvl2pPr>
              <a:defRPr sz="1650" b="1">
                <a:solidFill>
                  <a:srgbClr val="087E8B"/>
                </a:solidFill>
              </a:defRPr>
            </a:lvl2pPr>
            <a:lvl3pPr>
              <a:defRPr sz="1650" b="1">
                <a:solidFill>
                  <a:srgbClr val="087E8B"/>
                </a:solidFill>
              </a:defRPr>
            </a:lvl3pPr>
            <a:lvl4pPr>
              <a:defRPr sz="1650" b="1">
                <a:solidFill>
                  <a:srgbClr val="087E8B"/>
                </a:solidFill>
              </a:defRPr>
            </a:lvl4pPr>
            <a:lvl5pPr>
              <a:defRPr sz="1650" b="1">
                <a:solidFill>
                  <a:srgbClr val="087E8B"/>
                </a:solidFill>
              </a:defRPr>
            </a:lvl5pPr>
            <a:lvl6pPr>
              <a:defRPr sz="1650" b="1">
                <a:solidFill>
                  <a:srgbClr val="087E8B"/>
                </a:solidFill>
              </a:defRPr>
            </a:lvl6pPr>
            <a:lvl7pPr>
              <a:defRPr sz="1650" b="1">
                <a:solidFill>
                  <a:srgbClr val="087E8B"/>
                </a:solidFill>
              </a:defRPr>
            </a:lvl7pPr>
            <a:lvl8pPr>
              <a:defRPr sz="1650" b="1">
                <a:solidFill>
                  <a:srgbClr val="087E8B"/>
                </a:solidFill>
              </a:defRPr>
            </a:lvl8pPr>
            <a:lvl9pPr>
              <a:defRPr sz="1650" b="1">
                <a:solidFill>
                  <a:srgbClr val="087E8B"/>
                </a:solidFill>
              </a:defRPr>
            </a:lvl9pPr>
          </a:lstStyle>
          <a:p xmlns:a="http://schemas.openxmlformats.org/drawingml/2006/main">
            <a:pPr>
              <a:defRPr sz="1650" b="1">
                <a:solidFill>
                  <a:srgbClr val="087E8B"/>
                </a:solidFill>
              </a:defRPr>
            </a:pPr>
            <a:r>
              <a:rPr sz="1650" b="1">
                <a:solidFill>
                  <a:srgbClr val="087E8B"/>
                </a:solidFill>
              </a:rPr>
              <a:t>INPUT</a:t>
            </a:r>
          </a:p>
        </p:txBody>
      </p:sp>
      <p:sp>
        <p:nvSpPr>
          <p:cNvPr id="6" name="">
            <a:extLst xmlns:a="http://schemas.openxmlformats.org/drawingml/2006/main">
              <a:ext uri="{FF2B5EF4-FFF2-40B4-BE49-F238E27FC236}">
                <a16:creationId xmlns:a16="http://schemas.microsoft.com/office/drawing/2014/main" id="{74FD9D9B-C680-4627-A75A-DBDA93F0388F}"/>
              </a:ext>
            </a:extLst>
          </p:cNvPr>
          <p:cNvSpPr>
            <a:spLocks xmlns:a="http://schemas.openxmlformats.org/drawingml/2006/main" noGrp="1"/>
          </p:cNvSpPr>
          <p:nvPr/>
        </p:nvSpPr>
        <p:spPr>
          <a:xfrm xmlns:a="http://schemas.openxmlformats.org/drawingml/2006/main">
            <a:off x="685800" y="2409825"/>
            <a:ext cx="10382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32F46"/>
                </a:solidFill>
              </a:defRPr>
            </a:defPPr>
            <a:lvl1pPr>
              <a:defRPr sz="2700" b="0">
                <a:solidFill>
                  <a:srgbClr val="132F46"/>
                </a:solidFill>
              </a:defRPr>
            </a:lvl1pPr>
            <a:lvl2pPr>
              <a:defRPr sz="2700" b="0">
                <a:solidFill>
                  <a:srgbClr val="132F46"/>
                </a:solidFill>
              </a:defRPr>
            </a:lvl2pPr>
            <a:lvl3pPr>
              <a:defRPr sz="2700" b="0">
                <a:solidFill>
                  <a:srgbClr val="132F46"/>
                </a:solidFill>
              </a:defRPr>
            </a:lvl3pPr>
            <a:lvl4pPr>
              <a:defRPr sz="2700" b="0">
                <a:solidFill>
                  <a:srgbClr val="132F46"/>
                </a:solidFill>
              </a:defRPr>
            </a:lvl4pPr>
            <a:lvl5pPr>
              <a:defRPr sz="2700" b="0">
                <a:solidFill>
                  <a:srgbClr val="132F46"/>
                </a:solidFill>
              </a:defRPr>
            </a:lvl5pPr>
            <a:lvl6pPr>
              <a:defRPr sz="2700" b="0">
                <a:solidFill>
                  <a:srgbClr val="132F46"/>
                </a:solidFill>
              </a:defRPr>
            </a:lvl6pPr>
            <a:lvl7pPr>
              <a:defRPr sz="2700" b="0">
                <a:solidFill>
                  <a:srgbClr val="132F46"/>
                </a:solidFill>
              </a:defRPr>
            </a:lvl7pPr>
            <a:lvl8pPr>
              <a:defRPr sz="2700" b="0">
                <a:solidFill>
                  <a:srgbClr val="132F46"/>
                </a:solidFill>
              </a:defRPr>
            </a:lvl8pPr>
            <a:lvl9pPr>
              <a:defRPr sz="2700" b="0">
                <a:solidFill>
                  <a:srgbClr val="132F46"/>
                </a:solidFill>
              </a:defRPr>
            </a:lvl9pPr>
          </a:lstStyle>
          <a:p xmlns:a="http://schemas.openxmlformats.org/drawingml/2006/main">
            <a:pPr>
              <a:defRPr sz="2700" b="0">
                <a:solidFill>
                  <a:srgbClr val="132F46"/>
                </a:solidFill>
              </a:defRPr>
            </a:pPr>
            <a:r>
              <a:rPr sz="2700" b="0">
                <a:solidFill>
                  <a:srgbClr val="132F46"/>
                </a:solidFill>
              </a:rPr>
              <a:t>Flow duration, packet counts, lengths, timing and flags</a:t>
            </a:r>
          </a:p>
        </p:txBody>
      </p:sp>
      <p:sp>
        <p:nvSpPr>
          <p:cNvPr id="7" name="">
            <a:extLst xmlns:a="http://schemas.openxmlformats.org/drawingml/2006/main">
              <a:ext uri="{FF2B5EF4-FFF2-40B4-BE49-F238E27FC236}">
                <a16:creationId xmlns:a16="http://schemas.microsoft.com/office/drawing/2014/main" id="{7D81901E-E1D0-4B94-A964-A66541E3C7F5}"/>
              </a:ext>
            </a:extLst>
          </p:cNvPr>
          <p:cNvSpPr>
            <a:spLocks xmlns:a="http://schemas.openxmlformats.org/drawingml/2006/main" noGrp="1"/>
          </p:cNvSpPr>
          <p:nvPr/>
        </p:nvSpPr>
        <p:spPr>
          <a:xfrm xmlns:a="http://schemas.openxmlformats.org/drawingml/2006/main">
            <a:off x="685800" y="3476625"/>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1">
                <a:solidFill>
                  <a:srgbClr val="087E8B"/>
                </a:solidFill>
              </a:defRPr>
            </a:defPPr>
            <a:lvl1pPr>
              <a:defRPr sz="1650" b="1">
                <a:solidFill>
                  <a:srgbClr val="087E8B"/>
                </a:solidFill>
              </a:defRPr>
            </a:lvl1pPr>
            <a:lvl2pPr>
              <a:defRPr sz="1650" b="1">
                <a:solidFill>
                  <a:srgbClr val="087E8B"/>
                </a:solidFill>
              </a:defRPr>
            </a:lvl2pPr>
            <a:lvl3pPr>
              <a:defRPr sz="1650" b="1">
                <a:solidFill>
                  <a:srgbClr val="087E8B"/>
                </a:solidFill>
              </a:defRPr>
            </a:lvl3pPr>
            <a:lvl4pPr>
              <a:defRPr sz="1650" b="1">
                <a:solidFill>
                  <a:srgbClr val="087E8B"/>
                </a:solidFill>
              </a:defRPr>
            </a:lvl4pPr>
            <a:lvl5pPr>
              <a:defRPr sz="1650" b="1">
                <a:solidFill>
                  <a:srgbClr val="087E8B"/>
                </a:solidFill>
              </a:defRPr>
            </a:lvl5pPr>
            <a:lvl6pPr>
              <a:defRPr sz="1650" b="1">
                <a:solidFill>
                  <a:srgbClr val="087E8B"/>
                </a:solidFill>
              </a:defRPr>
            </a:lvl6pPr>
            <a:lvl7pPr>
              <a:defRPr sz="1650" b="1">
                <a:solidFill>
                  <a:srgbClr val="087E8B"/>
                </a:solidFill>
              </a:defRPr>
            </a:lvl7pPr>
            <a:lvl8pPr>
              <a:defRPr sz="1650" b="1">
                <a:solidFill>
                  <a:srgbClr val="087E8B"/>
                </a:solidFill>
              </a:defRPr>
            </a:lvl8pPr>
            <a:lvl9pPr>
              <a:defRPr sz="1650" b="1">
                <a:solidFill>
                  <a:srgbClr val="087E8B"/>
                </a:solidFill>
              </a:defRPr>
            </a:lvl9pPr>
          </a:lstStyle>
          <a:p xmlns:a="http://schemas.openxmlformats.org/drawingml/2006/main">
            <a:pPr>
              <a:defRPr sz="1650" b="1">
                <a:solidFill>
                  <a:srgbClr val="087E8B"/>
                </a:solidFill>
              </a:defRPr>
            </a:pPr>
            <a:r>
              <a:rPr sz="1650" b="1">
                <a:solidFill>
                  <a:srgbClr val="087E8B"/>
                </a:solidFill>
              </a:rPr>
              <a:t>OUTPUT</a:t>
            </a:r>
          </a:p>
        </p:txBody>
      </p:sp>
      <p:sp>
        <p:nvSpPr>
          <p:cNvPr id="8" name="">
            <a:extLst xmlns:a="http://schemas.openxmlformats.org/drawingml/2006/main">
              <a:ext uri="{FF2B5EF4-FFF2-40B4-BE49-F238E27FC236}">
                <a16:creationId xmlns:a16="http://schemas.microsoft.com/office/drawing/2014/main" id="{EB5BC3FB-F14B-46C3-85DF-5B737239C703}"/>
              </a:ext>
            </a:extLst>
          </p:cNvPr>
          <p:cNvSpPr>
            <a:spLocks xmlns:a="http://schemas.openxmlformats.org/drawingml/2006/main" noGrp="1"/>
          </p:cNvSpPr>
          <p:nvPr/>
        </p:nvSpPr>
        <p:spPr>
          <a:xfrm xmlns:a="http://schemas.openxmlformats.org/drawingml/2006/main">
            <a:off x="685800" y="3933825"/>
            <a:ext cx="1038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32F46"/>
                </a:solidFill>
              </a:defRPr>
            </a:defPPr>
            <a:lvl1pPr>
              <a:defRPr sz="2700" b="0">
                <a:solidFill>
                  <a:srgbClr val="132F46"/>
                </a:solidFill>
              </a:defRPr>
            </a:lvl1pPr>
            <a:lvl2pPr>
              <a:defRPr sz="2700" b="0">
                <a:solidFill>
                  <a:srgbClr val="132F46"/>
                </a:solidFill>
              </a:defRPr>
            </a:lvl2pPr>
            <a:lvl3pPr>
              <a:defRPr sz="2700" b="0">
                <a:solidFill>
                  <a:srgbClr val="132F46"/>
                </a:solidFill>
              </a:defRPr>
            </a:lvl3pPr>
            <a:lvl4pPr>
              <a:defRPr sz="2700" b="0">
                <a:solidFill>
                  <a:srgbClr val="132F46"/>
                </a:solidFill>
              </a:defRPr>
            </a:lvl4pPr>
            <a:lvl5pPr>
              <a:defRPr sz="2700" b="0">
                <a:solidFill>
                  <a:srgbClr val="132F46"/>
                </a:solidFill>
              </a:defRPr>
            </a:lvl5pPr>
            <a:lvl6pPr>
              <a:defRPr sz="2700" b="0">
                <a:solidFill>
                  <a:srgbClr val="132F46"/>
                </a:solidFill>
              </a:defRPr>
            </a:lvl6pPr>
            <a:lvl7pPr>
              <a:defRPr sz="2700" b="0">
                <a:solidFill>
                  <a:srgbClr val="132F46"/>
                </a:solidFill>
              </a:defRPr>
            </a:lvl7pPr>
            <a:lvl8pPr>
              <a:defRPr sz="2700" b="0">
                <a:solidFill>
                  <a:srgbClr val="132F46"/>
                </a:solidFill>
              </a:defRPr>
            </a:lvl8pPr>
            <a:lvl9pPr>
              <a:defRPr sz="2700" b="0">
                <a:solidFill>
                  <a:srgbClr val="132F46"/>
                </a:solidFill>
              </a:defRPr>
            </a:lvl9pPr>
          </a:lstStyle>
          <a:p xmlns:a="http://schemas.openxmlformats.org/drawingml/2006/main">
            <a:pPr>
              <a:defRPr sz="2700" b="0">
                <a:solidFill>
                  <a:srgbClr val="132F46"/>
                </a:solidFill>
              </a:defRPr>
            </a:pPr>
            <a:r>
              <a:rPr sz="2700" b="0">
                <a:solidFill>
                  <a:srgbClr val="132F46"/>
                </a:solidFill>
              </a:rPr>
              <a:t>BENIGN or a known attack category</a:t>
            </a:r>
          </a:p>
        </p:txBody>
      </p:sp>
      <p:sp>
        <p:nvSpPr>
          <p:cNvPr id="9" name="">
            <a:extLst xmlns:a="http://schemas.openxmlformats.org/drawingml/2006/main">
              <a:ext uri="{FF2B5EF4-FFF2-40B4-BE49-F238E27FC236}">
                <a16:creationId xmlns:a16="http://schemas.microsoft.com/office/drawing/2014/main" id="{266CD55B-BF48-4FEB-A866-ABA78A16A216}"/>
              </a:ext>
            </a:extLst>
          </p:cNvPr>
          <p:cNvSpPr>
            <a:spLocks xmlns:a="http://schemas.openxmlformats.org/drawingml/2006/main" noGrp="1"/>
          </p:cNvSpPr>
          <p:nvPr/>
        </p:nvSpPr>
        <p:spPr>
          <a:xfrm xmlns:a="http://schemas.openxmlformats.org/drawingml/2006/main">
            <a:off x="685800" y="5267325"/>
            <a:ext cx="1038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586B7B"/>
                </a:solidFill>
              </a:defRPr>
            </a:defPPr>
            <a:lvl1pPr>
              <a:defRPr sz="1950" b="0">
                <a:solidFill>
                  <a:srgbClr val="586B7B"/>
                </a:solidFill>
              </a:defRPr>
            </a:lvl1pPr>
            <a:lvl2pPr>
              <a:defRPr sz="1950" b="0">
                <a:solidFill>
                  <a:srgbClr val="586B7B"/>
                </a:solidFill>
              </a:defRPr>
            </a:lvl2pPr>
            <a:lvl3pPr>
              <a:defRPr sz="1950" b="0">
                <a:solidFill>
                  <a:srgbClr val="586B7B"/>
                </a:solidFill>
              </a:defRPr>
            </a:lvl3pPr>
            <a:lvl4pPr>
              <a:defRPr sz="1950" b="0">
                <a:solidFill>
                  <a:srgbClr val="586B7B"/>
                </a:solidFill>
              </a:defRPr>
            </a:lvl4pPr>
            <a:lvl5pPr>
              <a:defRPr sz="1950" b="0">
                <a:solidFill>
                  <a:srgbClr val="586B7B"/>
                </a:solidFill>
              </a:defRPr>
            </a:lvl5pPr>
            <a:lvl6pPr>
              <a:defRPr sz="1950" b="0">
                <a:solidFill>
                  <a:srgbClr val="586B7B"/>
                </a:solidFill>
              </a:defRPr>
            </a:lvl6pPr>
            <a:lvl7pPr>
              <a:defRPr sz="1950" b="0">
                <a:solidFill>
                  <a:srgbClr val="586B7B"/>
                </a:solidFill>
              </a:defRPr>
            </a:lvl7pPr>
            <a:lvl8pPr>
              <a:defRPr sz="1950" b="0">
                <a:solidFill>
                  <a:srgbClr val="586B7B"/>
                </a:solidFill>
              </a:defRPr>
            </a:lvl8pPr>
            <a:lvl9pPr>
              <a:defRPr sz="1950" b="0">
                <a:solidFill>
                  <a:srgbClr val="586B7B"/>
                </a:solidFill>
              </a:defRPr>
            </a:lvl9pPr>
          </a:lstStyle>
          <a:p xmlns:a="http://schemas.openxmlformats.org/drawingml/2006/main">
            <a:pPr>
              <a:defRPr sz="1950" b="0">
                <a:solidFill>
                  <a:srgbClr val="586B7B"/>
                </a:solidFill>
              </a:defRPr>
            </a:pPr>
            <a:r>
              <a:rPr sz="1950" b="0">
                <a:solidFill>
                  <a:srgbClr val="586B7B"/>
                </a:solidFill>
              </a:rPr>
              <a:t>A local CSV analysis tool for investigating recorded traffic</a:t>
            </a:r>
          </a:p>
        </p:txBody>
      </p:sp>
    </p:spTree>
    <p:extLst>
      <p:ext uri="{BB962C8B-B14F-4D97-AF65-F5344CB8AC3E}">
        <p14:creationId xmlns:p14="http://schemas.microsoft.com/office/powerpoint/2010/main" val="1368883594"/>
      </p:ext>
    </p:extLst>
  </p:cSld>
</p:sld>
</file>

<file path=ppt/slides/slide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BCE6D22-E159-4C6A-9F68-528BDBF6A511}"/>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33325147-10A0-44C4-9904-C38FA817960D}"/>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The dataset contains strongly unequal classes</a:t>
            </a:r>
          </a:p>
        </p:txBody>
      </p:sp>
      <p:sp>
        <p:nvSpPr>
          <p:cNvPr id="3" name="">
            <a:extLst xmlns:a="http://schemas.openxmlformats.org/drawingml/2006/main">
              <a:ext uri="{FF2B5EF4-FFF2-40B4-BE49-F238E27FC236}">
                <a16:creationId xmlns:a16="http://schemas.microsoft.com/office/drawing/2014/main" id="{64A84E63-DDA0-40C9-8206-CEFCCD9B50C3}"/>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298C8314-0BCF-4B51-B80F-4A0FE7EDD4F7}"/>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03</a:t>
            </a:r>
          </a:p>
        </p:txBody>
      </p:sp>
      <p:graphicFrame>
        <p:nvGraphicFramePr>
          <p:cNvPr id="5" name="">
            <a:extLst xmlns:a="http://schemas.openxmlformats.org/drawingml/2006/main">
              <a:ext uri="{FF2B5EF4-FFF2-40B4-BE49-F238E27FC236}">
                <a16:creationId xmlns:a16="http://schemas.microsoft.com/office/drawing/2014/main" id="{B99E6891-EE8E-4866-A10E-0757F7E68F7B}"/>
              </a:ext>
            </a:extLst>
          </p:cNvPr>
          <p:cNvGraphicFramePr/>
          <p:nvPr/>
        </p:nvGraphicFramePr>
        <p:xfrm>
          <a:off xmlns:a="http://schemas.openxmlformats.org/drawingml/2006/main" x="685800" y="1866900"/>
          <a:ext xmlns:a="http://schemas.openxmlformats.org/drawingml/2006/main" cx="6667500" cy="3981450"/>
        </p:xfrm>
        <a:graphic xmlns:a="http://schemas.openxmlformats.org/drawingml/2006/main">
          <a:graphicData uri="http://schemas.openxmlformats.org/drawingml/2006/table">
            <a:tbl>
              <a:tblPr/>
              <a:tblGrid>
                <a:gridCol w="4191000"/>
                <a:gridCol w="2476500"/>
              </a:tblGrid>
              <a:tr h="497681">
                <a:tc>
                  <a:txBody>
                    <a:bodyPr/>
                    <a:lstStyle/>
                    <a:p>
                      <a:r>
                        <a:rPr sz="1725" b="1">
                          <a:solidFill>
                            <a:srgbClr val="FFFFFF"/>
                          </a:solidFill>
                        </a:rPr>
                        <a:t>Traffic category</a:t>
                      </a:r>
                    </a:p>
                  </a:txBody>
                  <a:tcPr marL="114300" marR="114300" marT="57150" marB="57150" anchor="ctr">
                    <a:lnL w="9525">
                      <a:solidFill>
                        <a:srgbClr val="D9E2EA"/>
                      </a:solidFill>
                      <a:prstDash val="solid"/>
                    </a:lnL>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Distinct flows</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r>
              <a:tr h="497681">
                <a:tc>
                  <a:txBody>
                    <a:bodyPr/>
                    <a:lstStyle/>
                    <a:p>
                      <a:r>
                        <a:rPr sz="1725">
                          <a:solidFill>
                            <a:srgbClr val="132F46"/>
                          </a:solidFill>
                        </a:rPr>
                        <a:t>BENIGN</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21,688</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7681">
                <a:tc>
                  <a:txBody>
                    <a:bodyPr/>
                    <a:lstStyle/>
                    <a:p>
                      <a:r>
                        <a:rPr sz="1725">
                          <a:solidFill>
                            <a:srgbClr val="132F46"/>
                          </a:solidFill>
                        </a:rPr>
                        <a:t>DoS</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16,430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7681">
                <a:tc>
                  <a:txBody>
                    <a:bodyPr/>
                    <a:lstStyle/>
                    <a:p>
                      <a:r>
                        <a:rPr sz="1725">
                          <a:solidFill>
                            <a:srgbClr val="132F46"/>
                          </a:solidFill>
                        </a:rPr>
                        <a:t>WebAttack</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2,143</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7681">
                <a:tc>
                  <a:txBody>
                    <a:bodyPr/>
                    <a:lstStyle/>
                    <a:p>
                      <a:r>
                        <a:rPr sz="1725">
                          <a:solidFill>
                            <a:srgbClr val="132F46"/>
                          </a:solidFill>
                        </a:rPr>
                        <a:t>BruteForce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1,987</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7681">
                <a:tc>
                  <a:txBody>
                    <a:bodyPr/>
                    <a:lstStyle/>
                    <a:p>
                      <a:r>
                        <a:rPr sz="1725">
                          <a:solidFill>
                            <a:srgbClr val="132F46"/>
                          </a:solidFill>
                        </a:rPr>
                        <a:t>Bot</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1,441</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7681">
                <a:tc>
                  <a:txBody>
                    <a:bodyPr/>
                    <a:lstStyle/>
                    <a:p>
                      <a:r>
                        <a:rPr sz="1725">
                          <a:solidFill>
                            <a:srgbClr val="132F46"/>
                          </a:solidFill>
                        </a:rPr>
                        <a:t>PortScan</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326</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7681">
                <a:tc>
                  <a:txBody>
                    <a:bodyPr/>
                    <a:lstStyle/>
                    <a:p>
                      <a:r>
                        <a:rPr sz="1725">
                          <a:solidFill>
                            <a:srgbClr val="132F46"/>
                          </a:solidFill>
                        </a:rPr>
                        <a:t>Infiltration</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36</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bl>
          </a:graphicData>
        </a:graphic>
      </p:graphicFrame>
      <p:sp>
        <p:nvSpPr>
          <p:cNvPr id="6" name="">
            <a:extLst xmlns:a="http://schemas.openxmlformats.org/drawingml/2006/main">
              <a:ext uri="{FF2B5EF4-FFF2-40B4-BE49-F238E27FC236}">
                <a16:creationId xmlns:a16="http://schemas.microsoft.com/office/drawing/2014/main" id="{3F67A793-E1D8-4D96-B896-02707FD6E794}"/>
              </a:ext>
            </a:extLst>
          </p:cNvPr>
          <p:cNvSpPr>
            <a:spLocks xmlns:a="http://schemas.openxmlformats.org/drawingml/2006/main" noGrp="1"/>
          </p:cNvSpPr>
          <p:nvPr/>
        </p:nvSpPr>
        <p:spPr>
          <a:xfrm xmlns:a="http://schemas.openxmlformats.org/drawingml/2006/main">
            <a:off x="8001000" y="2095500"/>
            <a:ext cx="3429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650" b="1">
                <a:solidFill>
                  <a:srgbClr val="087E8B"/>
                </a:solidFill>
              </a:defRPr>
            </a:defPPr>
            <a:lvl1pPr>
              <a:defRPr sz="4650" b="1">
                <a:solidFill>
                  <a:srgbClr val="087E8B"/>
                </a:solidFill>
              </a:defRPr>
            </a:lvl1pPr>
            <a:lvl2pPr>
              <a:defRPr sz="4650" b="1">
                <a:solidFill>
                  <a:srgbClr val="087E8B"/>
                </a:solidFill>
              </a:defRPr>
            </a:lvl2pPr>
            <a:lvl3pPr>
              <a:defRPr sz="4650" b="1">
                <a:solidFill>
                  <a:srgbClr val="087E8B"/>
                </a:solidFill>
              </a:defRPr>
            </a:lvl3pPr>
            <a:lvl4pPr>
              <a:defRPr sz="4650" b="1">
                <a:solidFill>
                  <a:srgbClr val="087E8B"/>
                </a:solidFill>
              </a:defRPr>
            </a:lvl4pPr>
            <a:lvl5pPr>
              <a:defRPr sz="4650" b="1">
                <a:solidFill>
                  <a:srgbClr val="087E8B"/>
                </a:solidFill>
              </a:defRPr>
            </a:lvl5pPr>
            <a:lvl6pPr>
              <a:defRPr sz="4650" b="1">
                <a:solidFill>
                  <a:srgbClr val="087E8B"/>
                </a:solidFill>
              </a:defRPr>
            </a:lvl6pPr>
            <a:lvl7pPr>
              <a:defRPr sz="4650" b="1">
                <a:solidFill>
                  <a:srgbClr val="087E8B"/>
                </a:solidFill>
              </a:defRPr>
            </a:lvl7pPr>
            <a:lvl8pPr>
              <a:defRPr sz="4650" b="1">
                <a:solidFill>
                  <a:srgbClr val="087E8B"/>
                </a:solidFill>
              </a:defRPr>
            </a:lvl8pPr>
            <a:lvl9pPr>
              <a:defRPr sz="4650" b="1">
                <a:solidFill>
                  <a:srgbClr val="087E8B"/>
                </a:solidFill>
              </a:defRPr>
            </a:lvl9pPr>
          </a:lstStyle>
          <a:p xmlns:a="http://schemas.openxmlformats.org/drawingml/2006/main">
            <a:pPr>
              <a:defRPr sz="4650" b="1">
                <a:solidFill>
                  <a:srgbClr val="087E8B"/>
                </a:solidFill>
              </a:defRPr>
            </a:pPr>
            <a:r>
              <a:rPr sz="4650" b="1">
                <a:solidFill>
                  <a:srgbClr val="087E8B"/>
                </a:solidFill>
              </a:rPr>
              <a:t>44,051</a:t>
            </a:r>
          </a:p>
        </p:txBody>
      </p:sp>
      <p:sp>
        <p:nvSpPr>
          <p:cNvPr id="7" name="">
            <a:extLst xmlns:a="http://schemas.openxmlformats.org/drawingml/2006/main">
              <a:ext uri="{FF2B5EF4-FFF2-40B4-BE49-F238E27FC236}">
                <a16:creationId xmlns:a16="http://schemas.microsoft.com/office/drawing/2014/main" id="{06A1C068-E685-4DDC-872D-64E44A1AFD48}"/>
              </a:ext>
            </a:extLst>
          </p:cNvPr>
          <p:cNvSpPr>
            <a:spLocks xmlns:a="http://schemas.openxmlformats.org/drawingml/2006/main" noGrp="1"/>
          </p:cNvSpPr>
          <p:nvPr/>
        </p:nvSpPr>
        <p:spPr>
          <a:xfrm xmlns:a="http://schemas.openxmlformats.org/drawingml/2006/main">
            <a:off x="8001000" y="2857500"/>
            <a:ext cx="314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32F46"/>
                </a:solidFill>
              </a:defRPr>
            </a:defPPr>
            <a:lvl1pPr>
              <a:defRPr sz="2025" b="0">
                <a:solidFill>
                  <a:srgbClr val="132F46"/>
                </a:solidFill>
              </a:defRPr>
            </a:lvl1pPr>
            <a:lvl2pPr>
              <a:defRPr sz="2025" b="0">
                <a:solidFill>
                  <a:srgbClr val="132F46"/>
                </a:solidFill>
              </a:defRPr>
            </a:lvl2pPr>
            <a:lvl3pPr>
              <a:defRPr sz="2025" b="0">
                <a:solidFill>
                  <a:srgbClr val="132F46"/>
                </a:solidFill>
              </a:defRPr>
            </a:lvl3pPr>
            <a:lvl4pPr>
              <a:defRPr sz="2025" b="0">
                <a:solidFill>
                  <a:srgbClr val="132F46"/>
                </a:solidFill>
              </a:defRPr>
            </a:lvl4pPr>
            <a:lvl5pPr>
              <a:defRPr sz="2025" b="0">
                <a:solidFill>
                  <a:srgbClr val="132F46"/>
                </a:solidFill>
              </a:defRPr>
            </a:lvl5pPr>
            <a:lvl6pPr>
              <a:defRPr sz="2025" b="0">
                <a:solidFill>
                  <a:srgbClr val="132F46"/>
                </a:solidFill>
              </a:defRPr>
            </a:lvl6pPr>
            <a:lvl7pPr>
              <a:defRPr sz="2025" b="0">
                <a:solidFill>
                  <a:srgbClr val="132F46"/>
                </a:solidFill>
              </a:defRPr>
            </a:lvl7pPr>
            <a:lvl8pPr>
              <a:defRPr sz="2025" b="0">
                <a:solidFill>
                  <a:srgbClr val="132F46"/>
                </a:solidFill>
              </a:defRPr>
            </a:lvl8pPr>
            <a:lvl9pPr>
              <a:defRPr sz="2025" b="0">
                <a:solidFill>
                  <a:srgbClr val="132F46"/>
                </a:solidFill>
              </a:defRPr>
            </a:lvl9pPr>
          </a:lstStyle>
          <a:p xmlns:a="http://schemas.openxmlformats.org/drawingml/2006/main">
            <a:pPr>
              <a:defRPr sz="2025" b="0">
                <a:solidFill>
                  <a:srgbClr val="132F46"/>
                </a:solidFill>
              </a:defRPr>
            </a:pPr>
            <a:r>
              <a:rPr sz="2025" b="0">
                <a:solidFill>
                  <a:srgbClr val="132F46"/>
                </a:solidFill>
              </a:rPr>
              <a:t>distinct flows</a:t>
            </a:r>
          </a:p>
        </p:txBody>
      </p:sp>
      <p:sp>
        <p:nvSpPr>
          <p:cNvPr id="8" name="">
            <a:extLst xmlns:a="http://schemas.openxmlformats.org/drawingml/2006/main">
              <a:ext uri="{FF2B5EF4-FFF2-40B4-BE49-F238E27FC236}">
                <a16:creationId xmlns:a16="http://schemas.microsoft.com/office/drawing/2014/main" id="{1BF55F1E-F77F-468B-AB86-0B9443AB5478}"/>
              </a:ext>
            </a:extLst>
          </p:cNvPr>
          <p:cNvSpPr>
            <a:spLocks xmlns:a="http://schemas.openxmlformats.org/drawingml/2006/main" noGrp="1"/>
          </p:cNvSpPr>
          <p:nvPr/>
        </p:nvSpPr>
        <p:spPr>
          <a:xfrm xmlns:a="http://schemas.openxmlformats.org/drawingml/2006/main">
            <a:off x="8001000" y="371475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F46"/>
                </a:solidFill>
              </a:defRPr>
            </a:defPPr>
            <a:lvl1pPr>
              <a:defRPr sz="2175" b="0">
                <a:solidFill>
                  <a:srgbClr val="132F46"/>
                </a:solidFill>
              </a:defRPr>
            </a:lvl1pPr>
            <a:lvl2pPr>
              <a:defRPr sz="2175" b="0">
                <a:solidFill>
                  <a:srgbClr val="132F46"/>
                </a:solidFill>
              </a:defRPr>
            </a:lvl2pPr>
            <a:lvl3pPr>
              <a:defRPr sz="2175" b="0">
                <a:solidFill>
                  <a:srgbClr val="132F46"/>
                </a:solidFill>
              </a:defRPr>
            </a:lvl3pPr>
            <a:lvl4pPr>
              <a:defRPr sz="2175" b="0">
                <a:solidFill>
                  <a:srgbClr val="132F46"/>
                </a:solidFill>
              </a:defRPr>
            </a:lvl4pPr>
            <a:lvl5pPr>
              <a:defRPr sz="2175" b="0">
                <a:solidFill>
                  <a:srgbClr val="132F46"/>
                </a:solidFill>
              </a:defRPr>
            </a:lvl5pPr>
            <a:lvl6pPr>
              <a:defRPr sz="2175" b="0">
                <a:solidFill>
                  <a:srgbClr val="132F46"/>
                </a:solidFill>
              </a:defRPr>
            </a:lvl6pPr>
            <a:lvl7pPr>
              <a:defRPr sz="2175" b="0">
                <a:solidFill>
                  <a:srgbClr val="132F46"/>
                </a:solidFill>
              </a:defRPr>
            </a:lvl7pPr>
            <a:lvl8pPr>
              <a:defRPr sz="2175" b="0">
                <a:solidFill>
                  <a:srgbClr val="132F46"/>
                </a:solidFill>
              </a:defRPr>
            </a:lvl8pPr>
            <a:lvl9pPr>
              <a:defRPr sz="2175" b="0">
                <a:solidFill>
                  <a:srgbClr val="132F46"/>
                </a:solidFill>
              </a:defRPr>
            </a:lvl9pPr>
          </a:lstStyle>
          <a:p xmlns:a="http://schemas.openxmlformats.org/drawingml/2006/main">
            <a:pPr>
              <a:defRPr sz="2175" b="0">
                <a:solidFill>
                  <a:srgbClr val="132F46"/>
                </a:solidFill>
              </a:defRPr>
            </a:pPr>
            <a:r>
              <a:rPr sz="2175" b="0">
                <a:solidFill>
                  <a:srgbClr val="132F46"/>
                </a:solidFill>
              </a:rPr>
              <a:t>77 features</a:t>
            </a:r>
          </a:p>
          <a:p xmlns:a="http://schemas.openxmlformats.org/drawingml/2006/main">
            <a:pPr>
              <a:defRPr sz="2175" b="0">
                <a:solidFill>
                  <a:srgbClr val="132F46"/>
                </a:solidFill>
              </a:defRPr>
            </a:pPr>
            <a:r>
              <a:rPr sz="2175" b="0">
                <a:solidFill>
                  <a:srgbClr val="132F46"/>
                </a:solidFill>
              </a:rPr>
              <a:t>7 labels</a:t>
            </a:r>
          </a:p>
          <a:p xmlns:a="http://schemas.openxmlformats.org/drawingml/2006/main">
            <a:pPr>
              <a:defRPr sz="2175" b="0">
                <a:solidFill>
                  <a:srgbClr val="132F46"/>
                </a:solidFill>
              </a:defRPr>
            </a:pPr>
            <a:r>
              <a:rPr sz="2175" b="0">
                <a:solidFill>
                  <a:srgbClr val="132F46"/>
                </a:solidFill>
              </a:rPr>
              <a:t>36 Infiltration flows</a:t>
            </a:r>
          </a:p>
        </p:txBody>
      </p:sp>
    </p:spTree>
    <p:extLst>
      <p:ext uri="{BB962C8B-B14F-4D97-AF65-F5344CB8AC3E}">
        <p14:creationId xmlns:p14="http://schemas.microsoft.com/office/powerpoint/2010/main" val="646513523"/>
      </p:ext>
    </p:extLst>
  </p:cSld>
</p:sld>
</file>

<file path=ppt/slides/slide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8E7D07F-8D38-46EE-84AC-BADADC29B249}"/>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CA921C41-CB50-4102-8756-8C903F1861F4}"/>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Data preparation protects the comparison</a:t>
            </a:r>
          </a:p>
        </p:txBody>
      </p:sp>
      <p:sp>
        <p:nvSpPr>
          <p:cNvPr id="3" name="">
            <a:extLst xmlns:a="http://schemas.openxmlformats.org/drawingml/2006/main">
              <a:ext uri="{FF2B5EF4-FFF2-40B4-BE49-F238E27FC236}">
                <a16:creationId xmlns:a16="http://schemas.microsoft.com/office/drawing/2014/main" id="{6E75E727-CF35-4C49-B3A2-1CFA2D039569}"/>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2D2B55BA-B814-481A-B804-145BF1504281}"/>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04</a:t>
            </a:r>
          </a:p>
        </p:txBody>
      </p:sp>
      <p:sp>
        <p:nvSpPr>
          <p:cNvPr id="5" name="">
            <a:extLst xmlns:a="http://schemas.openxmlformats.org/drawingml/2006/main">
              <a:ext uri="{FF2B5EF4-FFF2-40B4-BE49-F238E27FC236}">
                <a16:creationId xmlns:a16="http://schemas.microsoft.com/office/drawing/2014/main" id="{66433AB0-1F3E-4B46-9E44-EF2087E61F94}"/>
              </a:ext>
            </a:extLst>
          </p:cNvPr>
          <p:cNvSpPr>
            <a:spLocks xmlns:a="http://schemas.openxmlformats.org/drawingml/2006/main" noGrp="1"/>
          </p:cNvSpPr>
          <p:nvPr/>
        </p:nvSpPr>
        <p:spPr>
          <a:xfrm xmlns:a="http://schemas.openxmlformats.org/drawingml/2006/main">
            <a:off x="685800" y="1809750"/>
            <a:ext cx="10668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F46"/>
                </a:solidFill>
              </a:defRPr>
            </a:defPPr>
            <a:lvl1pPr>
              <a:defRPr sz="2175" b="0">
                <a:solidFill>
                  <a:srgbClr val="132F46"/>
                </a:solidFill>
              </a:defRPr>
            </a:lvl1pPr>
            <a:lvl2pPr>
              <a:defRPr sz="2175" b="0">
                <a:solidFill>
                  <a:srgbClr val="132F46"/>
                </a:solidFill>
              </a:defRPr>
            </a:lvl2pPr>
            <a:lvl3pPr>
              <a:defRPr sz="2175" b="0">
                <a:solidFill>
                  <a:srgbClr val="132F46"/>
                </a:solidFill>
              </a:defRPr>
            </a:lvl3pPr>
            <a:lvl4pPr>
              <a:defRPr sz="2175" b="0">
                <a:solidFill>
                  <a:srgbClr val="132F46"/>
                </a:solidFill>
              </a:defRPr>
            </a:lvl4pPr>
            <a:lvl5pPr>
              <a:defRPr sz="2175" b="0">
                <a:solidFill>
                  <a:srgbClr val="132F46"/>
                </a:solidFill>
              </a:defRPr>
            </a:lvl5pPr>
            <a:lvl6pPr>
              <a:defRPr sz="2175" b="0">
                <a:solidFill>
                  <a:srgbClr val="132F46"/>
                </a:solidFill>
              </a:defRPr>
            </a:lvl6pPr>
            <a:lvl7pPr>
              <a:defRPr sz="2175" b="0">
                <a:solidFill>
                  <a:srgbClr val="132F46"/>
                </a:solidFill>
              </a:defRPr>
            </a:lvl7pPr>
            <a:lvl8pPr>
              <a:defRPr sz="2175" b="0">
                <a:solidFill>
                  <a:srgbClr val="132F46"/>
                </a:solidFill>
              </a:defRPr>
            </a:lvl8pPr>
            <a:lvl9pPr>
              <a:defRPr sz="2175" b="0">
                <a:solidFill>
                  <a:srgbClr val="132F46"/>
                </a:solidFill>
              </a:defRPr>
            </a:lvl9pPr>
          </a:lstStyle>
          <a:p xmlns:a="http://schemas.openxmlformats.org/drawingml/2006/main">
            <a:pPr>
              <a:defRPr sz="2175" b="0">
                <a:solidFill>
                  <a:srgbClr val="132F46"/>
                </a:solidFill>
              </a:defRPr>
            </a:pPr>
            <a:r>
              <a:rPr sz="2175" b="0">
                <a:solidFill>
                  <a:srgbClr val="132F46"/>
                </a:solidFill>
              </a:rPr>
              <a:t>01   Trim column names and traffic labels</a:t>
            </a:r>
          </a:p>
          <a:p xmlns:a="http://schemas.openxmlformats.org/drawingml/2006/main">
            <a:r>
              <a:t/>
            </a:r>
          </a:p>
          <a:p xmlns:a="http://schemas.openxmlformats.org/drawingml/2006/main">
            <a:pPr>
              <a:defRPr sz="2175" b="0">
                <a:solidFill>
                  <a:srgbClr val="132F46"/>
                </a:solidFill>
              </a:defRPr>
            </a:pPr>
            <a:r>
              <a:rPr sz="2175" b="0">
                <a:solidFill>
                  <a:srgbClr val="132F46"/>
                </a:solidFill>
              </a:rPr>
              <a:t>02   Convert measurements and mark infinities as missing</a:t>
            </a:r>
          </a:p>
          <a:p xmlns:a="http://schemas.openxmlformats.org/drawingml/2006/main">
            <a:r>
              <a:t/>
            </a:r>
          </a:p>
          <a:p xmlns:a="http://schemas.openxmlformats.org/drawingml/2006/main">
            <a:pPr>
              <a:defRPr sz="2175" b="0">
                <a:solidFill>
                  <a:srgbClr val="132F46"/>
                </a:solidFill>
              </a:defRPr>
            </a:pPr>
            <a:r>
              <a:rPr sz="2175" b="0">
                <a:solidFill>
                  <a:srgbClr val="132F46"/>
                </a:solidFill>
              </a:rPr>
              <a:t>03   Remove 12,610 duplicate feature rows</a:t>
            </a:r>
          </a:p>
          <a:p xmlns:a="http://schemas.openxmlformats.org/drawingml/2006/main">
            <a:r>
              <a:t/>
            </a:r>
          </a:p>
          <a:p xmlns:a="http://schemas.openxmlformats.org/drawingml/2006/main">
            <a:pPr>
              <a:defRPr sz="2175" b="0">
                <a:solidFill>
                  <a:srgbClr val="132F46"/>
                </a:solidFill>
              </a:defRPr>
            </a:pPr>
            <a:r>
              <a:rPr sz="2175" b="0">
                <a:solidFill>
                  <a:srgbClr val="132F46"/>
                </a:solidFill>
              </a:rPr>
              <a:t>04   Split distinct flows with stratification and seed 42</a:t>
            </a:r>
          </a:p>
          <a:p xmlns:a="http://schemas.openxmlformats.org/drawingml/2006/main">
            <a:r>
              <a:t/>
            </a:r>
          </a:p>
          <a:p xmlns:a="http://schemas.openxmlformats.org/drawingml/2006/main">
            <a:pPr>
              <a:defRPr sz="2175" b="0">
                <a:solidFill>
                  <a:srgbClr val="132F46"/>
                </a:solidFill>
              </a:defRPr>
            </a:pPr>
            <a:r>
              <a:rPr sz="2175" b="0">
                <a:solidFill>
                  <a:srgbClr val="132F46"/>
                </a:solidFill>
              </a:rPr>
              <a:t>05   Fit median imputation within each fitting pipeline</a:t>
            </a:r>
          </a:p>
        </p:txBody>
      </p:sp>
    </p:spTree>
    <p:extLst>
      <p:ext uri="{BB962C8B-B14F-4D97-AF65-F5344CB8AC3E}">
        <p14:creationId xmlns:p14="http://schemas.microsoft.com/office/powerpoint/2010/main" val="252972271"/>
      </p:ext>
    </p:extLst>
  </p:cSld>
</p:sld>
</file>

<file path=ppt/slides/slide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89CFDF8-4947-402A-BE08-B79A779C8BE4}"/>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A71FBCD1-434E-430C-86DF-E1888B356F82}"/>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Training validation and test partitions</a:t>
            </a:r>
          </a:p>
        </p:txBody>
      </p:sp>
      <p:sp>
        <p:nvSpPr>
          <p:cNvPr id="3" name="">
            <a:extLst xmlns:a="http://schemas.openxmlformats.org/drawingml/2006/main">
              <a:ext uri="{FF2B5EF4-FFF2-40B4-BE49-F238E27FC236}">
                <a16:creationId xmlns:a16="http://schemas.microsoft.com/office/drawing/2014/main" id="{183F62A1-C6D0-4E36-B638-BCD56F953C0C}"/>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BF06FFDA-B897-45F4-8B9C-8516FF2233D2}"/>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05</a:t>
            </a:r>
          </a:p>
        </p:txBody>
      </p:sp>
      <p:graphicFrame>
        <p:nvGraphicFramePr>
          <p:cNvPr id="5" name="Chart">
            <a:extLst xmlns:a="http://schemas.openxmlformats.org/drawingml/2006/main">
              <a:ext uri="{FF2B5EF4-FFF2-40B4-BE49-F238E27FC236}">
                <a16:creationId xmlns:a16="http://schemas.microsoft.com/office/drawing/2014/main" id="{CCD4F0BF-0519-4ACC-9945-2C9202DD311F}"/>
              </a:ext>
            </a:extLst>
          </p:cNvPr>
          <p:cNvGraphicFramePr/>
          <p:nvPr/>
        </p:nvGraphicFramePr>
        <p:xfrm>
          <a:off xmlns:a="http://schemas.openxmlformats.org/drawingml/2006/main" x="609600" y="1790700"/>
          <a:ext xmlns:a="http://schemas.openxmlformats.org/drawingml/2006/main" cx="10858500" cy="4000500"/>
        </p:xfrm>
        <a:graphic xmlns:a="http://schemas.openxmlformats.org/drawingml/2006/main">
          <a:graphicData uri="http://schemas.openxmlformats.org/drawingml/2006/chart">
            <c:chart xmlns:r="http://schemas.openxmlformats.org/officeDocument/2006/relationships" xmlns:c="http://schemas.openxmlformats.org/drawingml/2006/chart" r:id="R05ccfeb117504634"/>
          </a:graphicData>
        </a:graphic>
      </p:graphicFrame>
      <p:sp>
        <p:nvSpPr>
          <p:cNvPr id="6" name="">
            <a:extLst xmlns:a="http://schemas.openxmlformats.org/drawingml/2006/main">
              <a:ext uri="{FF2B5EF4-FFF2-40B4-BE49-F238E27FC236}">
                <a16:creationId xmlns:a16="http://schemas.microsoft.com/office/drawing/2014/main" id="{591AE880-D562-4DAA-B385-1E909A3F77AE}"/>
              </a:ext>
            </a:extLst>
          </p:cNvPr>
          <p:cNvSpPr>
            <a:spLocks xmlns:a="http://schemas.openxmlformats.org/drawingml/2006/main" noGrp="1"/>
          </p:cNvSpPr>
          <p:nvPr/>
        </p:nvSpPr>
        <p:spPr>
          <a:xfrm xmlns:a="http://schemas.openxmlformats.org/drawingml/2006/main">
            <a:off x="1733550" y="5886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B7B"/>
                </a:solidFill>
              </a:defRPr>
            </a:defPPr>
            <a:lvl1pPr>
              <a:defRPr sz="1725" b="0">
                <a:solidFill>
                  <a:srgbClr val="586B7B"/>
                </a:solidFill>
              </a:defRPr>
            </a:lvl1pPr>
            <a:lvl2pPr>
              <a:defRPr sz="1725" b="0">
                <a:solidFill>
                  <a:srgbClr val="586B7B"/>
                </a:solidFill>
              </a:defRPr>
            </a:lvl2pPr>
            <a:lvl3pPr>
              <a:defRPr sz="1725" b="0">
                <a:solidFill>
                  <a:srgbClr val="586B7B"/>
                </a:solidFill>
              </a:defRPr>
            </a:lvl3pPr>
            <a:lvl4pPr>
              <a:defRPr sz="1725" b="0">
                <a:solidFill>
                  <a:srgbClr val="586B7B"/>
                </a:solidFill>
              </a:defRPr>
            </a:lvl4pPr>
            <a:lvl5pPr>
              <a:defRPr sz="1725" b="0">
                <a:solidFill>
                  <a:srgbClr val="586B7B"/>
                </a:solidFill>
              </a:defRPr>
            </a:lvl5pPr>
            <a:lvl6pPr>
              <a:defRPr sz="1725" b="0">
                <a:solidFill>
                  <a:srgbClr val="586B7B"/>
                </a:solidFill>
              </a:defRPr>
            </a:lvl6pPr>
            <a:lvl7pPr>
              <a:defRPr sz="1725" b="0">
                <a:solidFill>
                  <a:srgbClr val="586B7B"/>
                </a:solidFill>
              </a:defRPr>
            </a:lvl7pPr>
            <a:lvl8pPr>
              <a:defRPr sz="1725" b="0">
                <a:solidFill>
                  <a:srgbClr val="586B7B"/>
                </a:solidFill>
              </a:defRPr>
            </a:lvl8pPr>
            <a:lvl9pPr>
              <a:defRPr sz="1725" b="0">
                <a:solidFill>
                  <a:srgbClr val="586B7B"/>
                </a:solidFill>
              </a:defRPr>
            </a:lvl9pPr>
          </a:lstStyle>
          <a:p xmlns:a="http://schemas.openxmlformats.org/drawingml/2006/main">
            <a:pPr>
              <a:defRPr sz="1725" b="0">
                <a:solidFill>
                  <a:srgbClr val="586B7B"/>
                </a:solidFill>
              </a:defRPr>
            </a:pPr>
            <a:r>
              <a:rPr sz="1725" b="0">
                <a:solidFill>
                  <a:srgbClr val="586B7B"/>
                </a:solidFill>
              </a:rPr>
              <a:t>Fit and tune</a:t>
            </a:r>
          </a:p>
        </p:txBody>
      </p:sp>
      <p:sp>
        <p:nvSpPr>
          <p:cNvPr id="7" name="">
            <a:extLst xmlns:a="http://schemas.openxmlformats.org/drawingml/2006/main">
              <a:ext uri="{FF2B5EF4-FFF2-40B4-BE49-F238E27FC236}">
                <a16:creationId xmlns:a16="http://schemas.microsoft.com/office/drawing/2014/main" id="{2ECCED79-47F7-4714-91C6-E157755BD2B6}"/>
              </a:ext>
            </a:extLst>
          </p:cNvPr>
          <p:cNvSpPr>
            <a:spLocks xmlns:a="http://schemas.openxmlformats.org/drawingml/2006/main" noGrp="1"/>
          </p:cNvSpPr>
          <p:nvPr/>
        </p:nvSpPr>
        <p:spPr>
          <a:xfrm xmlns:a="http://schemas.openxmlformats.org/drawingml/2006/main">
            <a:off x="5191125" y="5886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B7B"/>
                </a:solidFill>
              </a:defRPr>
            </a:defPPr>
            <a:lvl1pPr>
              <a:defRPr sz="1725" b="0">
                <a:solidFill>
                  <a:srgbClr val="586B7B"/>
                </a:solidFill>
              </a:defRPr>
            </a:lvl1pPr>
            <a:lvl2pPr>
              <a:defRPr sz="1725" b="0">
                <a:solidFill>
                  <a:srgbClr val="586B7B"/>
                </a:solidFill>
              </a:defRPr>
            </a:lvl2pPr>
            <a:lvl3pPr>
              <a:defRPr sz="1725" b="0">
                <a:solidFill>
                  <a:srgbClr val="586B7B"/>
                </a:solidFill>
              </a:defRPr>
            </a:lvl3pPr>
            <a:lvl4pPr>
              <a:defRPr sz="1725" b="0">
                <a:solidFill>
                  <a:srgbClr val="586B7B"/>
                </a:solidFill>
              </a:defRPr>
            </a:lvl4pPr>
            <a:lvl5pPr>
              <a:defRPr sz="1725" b="0">
                <a:solidFill>
                  <a:srgbClr val="586B7B"/>
                </a:solidFill>
              </a:defRPr>
            </a:lvl5pPr>
            <a:lvl6pPr>
              <a:defRPr sz="1725" b="0">
                <a:solidFill>
                  <a:srgbClr val="586B7B"/>
                </a:solidFill>
              </a:defRPr>
            </a:lvl6pPr>
            <a:lvl7pPr>
              <a:defRPr sz="1725" b="0">
                <a:solidFill>
                  <a:srgbClr val="586B7B"/>
                </a:solidFill>
              </a:defRPr>
            </a:lvl7pPr>
            <a:lvl8pPr>
              <a:defRPr sz="1725" b="0">
                <a:solidFill>
                  <a:srgbClr val="586B7B"/>
                </a:solidFill>
              </a:defRPr>
            </a:lvl8pPr>
            <a:lvl9pPr>
              <a:defRPr sz="1725" b="0">
                <a:solidFill>
                  <a:srgbClr val="586B7B"/>
                </a:solidFill>
              </a:defRPr>
            </a:lvl9pPr>
          </a:lstStyle>
          <a:p xmlns:a="http://schemas.openxmlformats.org/drawingml/2006/main">
            <a:pPr>
              <a:defRPr sz="1725" b="0">
                <a:solidFill>
                  <a:srgbClr val="586B7B"/>
                </a:solidFill>
              </a:defRPr>
            </a:pPr>
            <a:r>
              <a:rPr sz="1725" b="0">
                <a:solidFill>
                  <a:srgbClr val="586B7B"/>
                </a:solidFill>
              </a:rPr>
              <a:t>Select model</a:t>
            </a:r>
          </a:p>
        </p:txBody>
      </p:sp>
      <p:sp>
        <p:nvSpPr>
          <p:cNvPr id="8" name="">
            <a:extLst xmlns:a="http://schemas.openxmlformats.org/drawingml/2006/main">
              <a:ext uri="{FF2B5EF4-FFF2-40B4-BE49-F238E27FC236}">
                <a16:creationId xmlns:a16="http://schemas.microsoft.com/office/drawing/2014/main" id="{5559A382-8F22-48F2-A36F-0FC0E125F3F5}"/>
              </a:ext>
            </a:extLst>
          </p:cNvPr>
          <p:cNvSpPr>
            <a:spLocks xmlns:a="http://schemas.openxmlformats.org/drawingml/2006/main" noGrp="1"/>
          </p:cNvSpPr>
          <p:nvPr/>
        </p:nvSpPr>
        <p:spPr>
          <a:xfrm xmlns:a="http://schemas.openxmlformats.org/drawingml/2006/main">
            <a:off x="8648700" y="5886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B7B"/>
                </a:solidFill>
              </a:defRPr>
            </a:defPPr>
            <a:lvl1pPr>
              <a:defRPr sz="1725" b="0">
                <a:solidFill>
                  <a:srgbClr val="586B7B"/>
                </a:solidFill>
              </a:defRPr>
            </a:lvl1pPr>
            <a:lvl2pPr>
              <a:defRPr sz="1725" b="0">
                <a:solidFill>
                  <a:srgbClr val="586B7B"/>
                </a:solidFill>
              </a:defRPr>
            </a:lvl2pPr>
            <a:lvl3pPr>
              <a:defRPr sz="1725" b="0">
                <a:solidFill>
                  <a:srgbClr val="586B7B"/>
                </a:solidFill>
              </a:defRPr>
            </a:lvl3pPr>
            <a:lvl4pPr>
              <a:defRPr sz="1725" b="0">
                <a:solidFill>
                  <a:srgbClr val="586B7B"/>
                </a:solidFill>
              </a:defRPr>
            </a:lvl4pPr>
            <a:lvl5pPr>
              <a:defRPr sz="1725" b="0">
                <a:solidFill>
                  <a:srgbClr val="586B7B"/>
                </a:solidFill>
              </a:defRPr>
            </a:lvl5pPr>
            <a:lvl6pPr>
              <a:defRPr sz="1725" b="0">
                <a:solidFill>
                  <a:srgbClr val="586B7B"/>
                </a:solidFill>
              </a:defRPr>
            </a:lvl6pPr>
            <a:lvl7pPr>
              <a:defRPr sz="1725" b="0">
                <a:solidFill>
                  <a:srgbClr val="586B7B"/>
                </a:solidFill>
              </a:defRPr>
            </a:lvl7pPr>
            <a:lvl8pPr>
              <a:defRPr sz="1725" b="0">
                <a:solidFill>
                  <a:srgbClr val="586B7B"/>
                </a:solidFill>
              </a:defRPr>
            </a:lvl8pPr>
            <a:lvl9pPr>
              <a:defRPr sz="1725" b="0">
                <a:solidFill>
                  <a:srgbClr val="586B7B"/>
                </a:solidFill>
              </a:defRPr>
            </a:lvl9pPr>
          </a:lstStyle>
          <a:p xmlns:a="http://schemas.openxmlformats.org/drawingml/2006/main">
            <a:pPr>
              <a:defRPr sz="1725" b="0">
                <a:solidFill>
                  <a:srgbClr val="586B7B"/>
                </a:solidFill>
              </a:defRPr>
            </a:pPr>
            <a:r>
              <a:rPr sz="1725" b="0">
                <a:solidFill>
                  <a:srgbClr val="586B7B"/>
                </a:solidFill>
              </a:rPr>
              <a:t>Report scores</a:t>
            </a:r>
          </a:p>
        </p:txBody>
      </p:sp>
    </p:spTree>
    <p:extLst>
      <p:ext uri="{BB962C8B-B14F-4D97-AF65-F5344CB8AC3E}">
        <p14:creationId xmlns:p14="http://schemas.microsoft.com/office/powerpoint/2010/main" val="763993351"/>
      </p:ext>
    </p:extLst>
  </p:cSld>
</p:sld>
</file>

<file path=ppt/slides/slide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1E8BCB9-17AB-468A-B1A6-E33219CBD5F1}"/>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48461913-9D87-496B-9DCD-D1CE20596608}"/>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Eight configurations test different choices</a:t>
            </a:r>
          </a:p>
        </p:txBody>
      </p:sp>
      <p:sp>
        <p:nvSpPr>
          <p:cNvPr id="3" name="">
            <a:extLst xmlns:a="http://schemas.openxmlformats.org/drawingml/2006/main">
              <a:ext uri="{FF2B5EF4-FFF2-40B4-BE49-F238E27FC236}">
                <a16:creationId xmlns:a16="http://schemas.microsoft.com/office/drawing/2014/main" id="{8D5B5D47-CDD3-4CA3-A43A-0082BED93AD3}"/>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0662FAFD-CCFD-4066-9CDD-5ECF4151107D}"/>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06</a:t>
            </a:r>
          </a:p>
        </p:txBody>
      </p:sp>
      <p:graphicFrame>
        <p:nvGraphicFramePr>
          <p:cNvPr id="5" name="">
            <a:extLst xmlns:a="http://schemas.openxmlformats.org/drawingml/2006/main">
              <a:ext uri="{FF2B5EF4-FFF2-40B4-BE49-F238E27FC236}">
                <a16:creationId xmlns:a16="http://schemas.microsoft.com/office/drawing/2014/main" id="{F53F50F6-4227-4E40-A4E7-4732AAC42CC2}"/>
              </a:ext>
            </a:extLst>
          </p:cNvPr>
          <p:cNvGraphicFramePr/>
          <p:nvPr/>
        </p:nvGraphicFramePr>
        <p:xfrm>
          <a:off xmlns:a="http://schemas.openxmlformats.org/drawingml/2006/main" x="685800" y="1866900"/>
          <a:ext xmlns:a="http://schemas.openxmlformats.org/drawingml/2006/main" cx="10820400" cy="4114800"/>
        </p:xfrm>
        <a:graphic xmlns:a="http://schemas.openxmlformats.org/drawingml/2006/main">
          <a:graphicData uri="http://schemas.openxmlformats.org/drawingml/2006/table">
            <a:tbl>
              <a:tblPr/>
              <a:tblGrid>
                <a:gridCol w="4095750"/>
                <a:gridCol w="6724650"/>
              </a:tblGrid>
              <a:tr h="457200">
                <a:tc>
                  <a:txBody>
                    <a:bodyPr/>
                    <a:lstStyle/>
                    <a:p>
                      <a:r>
                        <a:rPr sz="1725" b="1">
                          <a:solidFill>
                            <a:srgbClr val="FFFFFF"/>
                          </a:solidFill>
                        </a:rPr>
                        <a:t>Configuration</a:t>
                      </a:r>
                    </a:p>
                  </a:txBody>
                  <a:tcPr marL="114300" marR="114300" marT="57150" marB="57150" anchor="ctr">
                    <a:lnL w="9525">
                      <a:solidFill>
                        <a:srgbClr val="D9E2EA"/>
                      </a:solidFill>
                      <a:prstDash val="solid"/>
                    </a:lnL>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Purpose</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r>
              <a:tr h="457200">
                <a:tc>
                  <a:txBody>
                    <a:bodyPr/>
                    <a:lstStyle/>
                    <a:p>
                      <a:r>
                        <a:rPr sz="1725">
                          <a:solidFill>
                            <a:srgbClr val="132F46"/>
                          </a:solidFill>
                        </a:rPr>
                        <a:t>Majority baseline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Check performance without useful learning</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57200">
                <a:tc>
                  <a:txBody>
                    <a:bodyPr/>
                    <a:lstStyle/>
                    <a:p>
                      <a:r>
                        <a:rPr sz="1725">
                          <a:solidFill>
                            <a:srgbClr val="132F46"/>
                          </a:solidFill>
                        </a:rPr>
                        <a:t>Decision Tree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Establish an interpretable tree comparator</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57200">
                <a:tc>
                  <a:txBody>
                    <a:bodyPr/>
                    <a:lstStyle/>
                    <a:p>
                      <a:r>
                        <a:rPr sz="1725">
                          <a:solidFill>
                            <a:srgbClr val="132F46"/>
                          </a:solidFill>
                        </a:rPr>
                        <a:t>Tuned Decision Tree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Test a bounded hyperparameter search</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57200">
                <a:tc>
                  <a:txBody>
                    <a:bodyPr/>
                    <a:lstStyle/>
                    <a:p>
                      <a:r>
                        <a:rPr sz="1725">
                          <a:solidFill>
                            <a:srgbClr val="132F46"/>
                          </a:solidFill>
                        </a:rPr>
                        <a:t>Random Forest</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Average 120 randomized trees</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57200">
                <a:tc>
                  <a:txBody>
                    <a:bodyPr/>
                    <a:lstStyle/>
                    <a:p>
                      <a:r>
                        <a:rPr sz="1725">
                          <a:solidFill>
                            <a:srgbClr val="132F46"/>
                          </a:solidFill>
                        </a:rPr>
                        <a:t>Extra Trees</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Test stronger split randomness</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57200">
                <a:tc>
                  <a:txBody>
                    <a:bodyPr/>
                    <a:lstStyle/>
                    <a:p>
                      <a:r>
                        <a:rPr sz="1725">
                          <a:solidFill>
                            <a:srgbClr val="132F46"/>
                          </a:solidFill>
                        </a:rPr>
                        <a:t>Histogram Gradient Boosting</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Learn sequentially with boosted trees</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57200">
                <a:tc>
                  <a:txBody>
                    <a:bodyPr/>
                    <a:lstStyle/>
                    <a:p>
                      <a:r>
                        <a:rPr sz="1725">
                          <a:solidFill>
                            <a:srgbClr val="132F46"/>
                          </a:solidFill>
                        </a:rPr>
                        <a:t>Top 20 features Tree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Measure the cost of reducing inputs</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57200">
                <a:tc>
                  <a:txBody>
                    <a:bodyPr/>
                    <a:lstStyle/>
                    <a:p>
                      <a:r>
                        <a:rPr sz="1725">
                          <a:solidFill>
                            <a:srgbClr val="132F46"/>
                          </a:solidFill>
                        </a:rPr>
                        <a:t>Stacking ensemble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Combine tree predictions with a meta-model</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bl>
          </a:graphicData>
        </a:graphic>
      </p:graphicFrame>
    </p:spTree>
    <p:extLst>
      <p:ext uri="{BB962C8B-B14F-4D97-AF65-F5344CB8AC3E}">
        <p14:creationId xmlns:p14="http://schemas.microsoft.com/office/powerpoint/2010/main" val="2072809393"/>
      </p:ext>
    </p:extLst>
  </p:cSld>
</p:sld>
</file>

<file path=ppt/slides/slide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6509510-F93D-4EAE-88A8-1E2BBD38C74B}"/>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E81BC9BB-88E2-4856-ACAB-300D3FD5A3A3}"/>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Tuning and feature selection are experiments</a:t>
            </a:r>
          </a:p>
        </p:txBody>
      </p:sp>
      <p:sp>
        <p:nvSpPr>
          <p:cNvPr id="3" name="">
            <a:extLst xmlns:a="http://schemas.openxmlformats.org/drawingml/2006/main">
              <a:ext uri="{FF2B5EF4-FFF2-40B4-BE49-F238E27FC236}">
                <a16:creationId xmlns:a16="http://schemas.microsoft.com/office/drawing/2014/main" id="{61DAB23A-132A-458B-B862-8A9DFD518C3D}"/>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9A9A32F7-C6D6-4DC4-B54C-6E5354C255E1}"/>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07</a:t>
            </a:r>
          </a:p>
        </p:txBody>
      </p:sp>
      <p:sp>
        <p:nvSpPr>
          <p:cNvPr id="5" name="">
            <a:extLst xmlns:a="http://schemas.openxmlformats.org/drawingml/2006/main">
              <a:ext uri="{FF2B5EF4-FFF2-40B4-BE49-F238E27FC236}">
                <a16:creationId xmlns:a16="http://schemas.microsoft.com/office/drawing/2014/main" id="{900E7364-B1A6-42C5-BF7A-3D438D9E37AF}"/>
              </a:ext>
            </a:extLst>
          </p:cNvPr>
          <p:cNvSpPr>
            <a:spLocks xmlns:a="http://schemas.openxmlformats.org/drawingml/2006/main" noGrp="1"/>
          </p:cNvSpPr>
          <p:nvPr/>
        </p:nvSpPr>
        <p:spPr>
          <a:xfrm xmlns:a="http://schemas.openxmlformats.org/drawingml/2006/main">
            <a:off x="685800" y="1952625"/>
            <a:ext cx="2667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087E8B"/>
                </a:solidFill>
              </a:defRPr>
            </a:defPPr>
            <a:lvl1pPr>
              <a:defRPr sz="5400" b="1">
                <a:solidFill>
                  <a:srgbClr val="087E8B"/>
                </a:solidFill>
              </a:defRPr>
            </a:lvl1pPr>
            <a:lvl2pPr>
              <a:defRPr sz="5400" b="1">
                <a:solidFill>
                  <a:srgbClr val="087E8B"/>
                </a:solidFill>
              </a:defRPr>
            </a:lvl2pPr>
            <a:lvl3pPr>
              <a:defRPr sz="5400" b="1">
                <a:solidFill>
                  <a:srgbClr val="087E8B"/>
                </a:solidFill>
              </a:defRPr>
            </a:lvl3pPr>
            <a:lvl4pPr>
              <a:defRPr sz="5400" b="1">
                <a:solidFill>
                  <a:srgbClr val="087E8B"/>
                </a:solidFill>
              </a:defRPr>
            </a:lvl4pPr>
            <a:lvl5pPr>
              <a:defRPr sz="5400" b="1">
                <a:solidFill>
                  <a:srgbClr val="087E8B"/>
                </a:solidFill>
              </a:defRPr>
            </a:lvl5pPr>
            <a:lvl6pPr>
              <a:defRPr sz="5400" b="1">
                <a:solidFill>
                  <a:srgbClr val="087E8B"/>
                </a:solidFill>
              </a:defRPr>
            </a:lvl6pPr>
            <a:lvl7pPr>
              <a:defRPr sz="5400" b="1">
                <a:solidFill>
                  <a:srgbClr val="087E8B"/>
                </a:solidFill>
              </a:defRPr>
            </a:lvl7pPr>
            <a:lvl8pPr>
              <a:defRPr sz="5400" b="1">
                <a:solidFill>
                  <a:srgbClr val="087E8B"/>
                </a:solidFill>
              </a:defRPr>
            </a:lvl8pPr>
            <a:lvl9pPr>
              <a:defRPr sz="5400" b="1">
                <a:solidFill>
                  <a:srgbClr val="087E8B"/>
                </a:solidFill>
              </a:defRPr>
            </a:lvl9pPr>
          </a:lstStyle>
          <a:p xmlns:a="http://schemas.openxmlformats.org/drawingml/2006/main">
            <a:pPr>
              <a:defRPr sz="5400" b="1">
                <a:solidFill>
                  <a:srgbClr val="087E8B"/>
                </a:solidFill>
              </a:defRPr>
            </a:pPr>
            <a:r>
              <a:rPr sz="5400" b="1">
                <a:solidFill>
                  <a:srgbClr val="087E8B"/>
                </a:solidFill>
              </a:rPr>
              <a:t>12</a:t>
            </a:r>
          </a:p>
        </p:txBody>
      </p:sp>
      <p:sp>
        <p:nvSpPr>
          <p:cNvPr id="6" name="">
            <a:extLst xmlns:a="http://schemas.openxmlformats.org/drawingml/2006/main">
              <a:ext uri="{FF2B5EF4-FFF2-40B4-BE49-F238E27FC236}">
                <a16:creationId xmlns:a16="http://schemas.microsoft.com/office/drawing/2014/main" id="{AC2A7537-A00F-418B-A0AC-7765613FCA2D}"/>
              </a:ext>
            </a:extLst>
          </p:cNvPr>
          <p:cNvSpPr>
            <a:spLocks xmlns:a="http://schemas.openxmlformats.org/drawingml/2006/main" noGrp="1"/>
          </p:cNvSpPr>
          <p:nvPr/>
        </p:nvSpPr>
        <p:spPr>
          <a:xfrm xmlns:a="http://schemas.openxmlformats.org/drawingml/2006/main">
            <a:off x="685800" y="2847975"/>
            <a:ext cx="4572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F46"/>
                </a:solidFill>
              </a:defRPr>
            </a:defPPr>
            <a:lvl1pPr>
              <a:defRPr sz="2175" b="0">
                <a:solidFill>
                  <a:srgbClr val="132F46"/>
                </a:solidFill>
              </a:defRPr>
            </a:lvl1pPr>
            <a:lvl2pPr>
              <a:defRPr sz="2175" b="0">
                <a:solidFill>
                  <a:srgbClr val="132F46"/>
                </a:solidFill>
              </a:defRPr>
            </a:lvl2pPr>
            <a:lvl3pPr>
              <a:defRPr sz="2175" b="0">
                <a:solidFill>
                  <a:srgbClr val="132F46"/>
                </a:solidFill>
              </a:defRPr>
            </a:lvl3pPr>
            <a:lvl4pPr>
              <a:defRPr sz="2175" b="0">
                <a:solidFill>
                  <a:srgbClr val="132F46"/>
                </a:solidFill>
              </a:defRPr>
            </a:lvl4pPr>
            <a:lvl5pPr>
              <a:defRPr sz="2175" b="0">
                <a:solidFill>
                  <a:srgbClr val="132F46"/>
                </a:solidFill>
              </a:defRPr>
            </a:lvl5pPr>
            <a:lvl6pPr>
              <a:defRPr sz="2175" b="0">
                <a:solidFill>
                  <a:srgbClr val="132F46"/>
                </a:solidFill>
              </a:defRPr>
            </a:lvl6pPr>
            <a:lvl7pPr>
              <a:defRPr sz="2175" b="0">
                <a:solidFill>
                  <a:srgbClr val="132F46"/>
                </a:solidFill>
              </a:defRPr>
            </a:lvl7pPr>
            <a:lvl8pPr>
              <a:defRPr sz="2175" b="0">
                <a:solidFill>
                  <a:srgbClr val="132F46"/>
                </a:solidFill>
              </a:defRPr>
            </a:lvl8pPr>
            <a:lvl9pPr>
              <a:defRPr sz="2175" b="0">
                <a:solidFill>
                  <a:srgbClr val="132F46"/>
                </a:solidFill>
              </a:defRPr>
            </a:lvl9pPr>
          </a:lstStyle>
          <a:p xmlns:a="http://schemas.openxmlformats.org/drawingml/2006/main">
            <a:pPr>
              <a:defRPr sz="2175" b="0">
                <a:solidFill>
                  <a:srgbClr val="132F46"/>
                </a:solidFill>
              </a:defRPr>
            </a:pPr>
            <a:r>
              <a:rPr sz="2175" b="0">
                <a:solidFill>
                  <a:srgbClr val="132F46"/>
                </a:solidFill>
              </a:rPr>
              <a:t>tree configurations</a:t>
            </a:r>
          </a:p>
        </p:txBody>
      </p:sp>
      <p:sp>
        <p:nvSpPr>
          <p:cNvPr id="7" name="">
            <a:extLst xmlns:a="http://schemas.openxmlformats.org/drawingml/2006/main">
              <a:ext uri="{FF2B5EF4-FFF2-40B4-BE49-F238E27FC236}">
                <a16:creationId xmlns:a16="http://schemas.microsoft.com/office/drawing/2014/main" id="{B84B0A13-02AF-4DC5-A482-D049A0EC9FF3}"/>
              </a:ext>
            </a:extLst>
          </p:cNvPr>
          <p:cNvSpPr>
            <a:spLocks xmlns:a="http://schemas.openxmlformats.org/drawingml/2006/main" noGrp="1"/>
          </p:cNvSpPr>
          <p:nvPr/>
        </p:nvSpPr>
        <p:spPr>
          <a:xfrm xmlns:a="http://schemas.openxmlformats.org/drawingml/2006/main">
            <a:off x="6762750" y="1952625"/>
            <a:ext cx="4381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5400" b="1">
                <a:solidFill>
                  <a:srgbClr val="087E8B"/>
                </a:solidFill>
              </a:defRPr>
            </a:defPPr>
            <a:lvl1pPr>
              <a:defRPr sz="5400" b="1">
                <a:solidFill>
                  <a:srgbClr val="087E8B"/>
                </a:solidFill>
              </a:defRPr>
            </a:lvl1pPr>
            <a:lvl2pPr>
              <a:defRPr sz="5400" b="1">
                <a:solidFill>
                  <a:srgbClr val="087E8B"/>
                </a:solidFill>
              </a:defRPr>
            </a:lvl2pPr>
            <a:lvl3pPr>
              <a:defRPr sz="5400" b="1">
                <a:solidFill>
                  <a:srgbClr val="087E8B"/>
                </a:solidFill>
              </a:defRPr>
            </a:lvl3pPr>
            <a:lvl4pPr>
              <a:defRPr sz="5400" b="1">
                <a:solidFill>
                  <a:srgbClr val="087E8B"/>
                </a:solidFill>
              </a:defRPr>
            </a:lvl4pPr>
            <a:lvl5pPr>
              <a:defRPr sz="5400" b="1">
                <a:solidFill>
                  <a:srgbClr val="087E8B"/>
                </a:solidFill>
              </a:defRPr>
            </a:lvl5pPr>
            <a:lvl6pPr>
              <a:defRPr sz="5400" b="1">
                <a:solidFill>
                  <a:srgbClr val="087E8B"/>
                </a:solidFill>
              </a:defRPr>
            </a:lvl6pPr>
            <a:lvl7pPr>
              <a:defRPr sz="5400" b="1">
                <a:solidFill>
                  <a:srgbClr val="087E8B"/>
                </a:solidFill>
              </a:defRPr>
            </a:lvl7pPr>
            <a:lvl8pPr>
              <a:defRPr sz="5400" b="1">
                <a:solidFill>
                  <a:srgbClr val="087E8B"/>
                </a:solidFill>
              </a:defRPr>
            </a:lvl8pPr>
            <a:lvl9pPr>
              <a:defRPr sz="5400" b="1">
                <a:solidFill>
                  <a:srgbClr val="087E8B"/>
                </a:solidFill>
              </a:defRPr>
            </a:lvl9pPr>
          </a:lstStyle>
          <a:p xmlns:a="http://schemas.openxmlformats.org/drawingml/2006/main">
            <a:pPr>
              <a:defRPr sz="5400" b="1">
                <a:solidFill>
                  <a:srgbClr val="087E8B"/>
                </a:solidFill>
              </a:defRPr>
            </a:pPr>
            <a:r>
              <a:rPr sz="5400" b="1">
                <a:solidFill>
                  <a:srgbClr val="087E8B"/>
                </a:solidFill>
              </a:rPr>
              <a:t>20 / 77</a:t>
            </a:r>
          </a:p>
        </p:txBody>
      </p:sp>
      <p:sp>
        <p:nvSpPr>
          <p:cNvPr id="8" name="">
            <a:extLst xmlns:a="http://schemas.openxmlformats.org/drawingml/2006/main">
              <a:ext uri="{FF2B5EF4-FFF2-40B4-BE49-F238E27FC236}">
                <a16:creationId xmlns:a16="http://schemas.microsoft.com/office/drawing/2014/main" id="{963CD6AF-7BFB-45F5-98DF-2546B042D85C}"/>
              </a:ext>
            </a:extLst>
          </p:cNvPr>
          <p:cNvSpPr>
            <a:spLocks xmlns:a="http://schemas.openxmlformats.org/drawingml/2006/main" noGrp="1"/>
          </p:cNvSpPr>
          <p:nvPr/>
        </p:nvSpPr>
        <p:spPr>
          <a:xfrm xmlns:a="http://schemas.openxmlformats.org/drawingml/2006/main">
            <a:off x="6762750" y="2847975"/>
            <a:ext cx="4572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F46"/>
                </a:solidFill>
              </a:defRPr>
            </a:defPPr>
            <a:lvl1pPr>
              <a:defRPr sz="2175" b="0">
                <a:solidFill>
                  <a:srgbClr val="132F46"/>
                </a:solidFill>
              </a:defRPr>
            </a:lvl1pPr>
            <a:lvl2pPr>
              <a:defRPr sz="2175" b="0">
                <a:solidFill>
                  <a:srgbClr val="132F46"/>
                </a:solidFill>
              </a:defRPr>
            </a:lvl2pPr>
            <a:lvl3pPr>
              <a:defRPr sz="2175" b="0">
                <a:solidFill>
                  <a:srgbClr val="132F46"/>
                </a:solidFill>
              </a:defRPr>
            </a:lvl3pPr>
            <a:lvl4pPr>
              <a:defRPr sz="2175" b="0">
                <a:solidFill>
                  <a:srgbClr val="132F46"/>
                </a:solidFill>
              </a:defRPr>
            </a:lvl4pPr>
            <a:lvl5pPr>
              <a:defRPr sz="2175" b="0">
                <a:solidFill>
                  <a:srgbClr val="132F46"/>
                </a:solidFill>
              </a:defRPr>
            </a:lvl5pPr>
            <a:lvl6pPr>
              <a:defRPr sz="2175" b="0">
                <a:solidFill>
                  <a:srgbClr val="132F46"/>
                </a:solidFill>
              </a:defRPr>
            </a:lvl6pPr>
            <a:lvl7pPr>
              <a:defRPr sz="2175" b="0">
                <a:solidFill>
                  <a:srgbClr val="132F46"/>
                </a:solidFill>
              </a:defRPr>
            </a:lvl7pPr>
            <a:lvl8pPr>
              <a:defRPr sz="2175" b="0">
                <a:solidFill>
                  <a:srgbClr val="132F46"/>
                </a:solidFill>
              </a:defRPr>
            </a:lvl8pPr>
            <a:lvl9pPr>
              <a:defRPr sz="2175" b="0">
                <a:solidFill>
                  <a:srgbClr val="132F46"/>
                </a:solidFill>
              </a:defRPr>
            </a:lvl9pPr>
          </a:lstStyle>
          <a:p xmlns:a="http://schemas.openxmlformats.org/drawingml/2006/main">
            <a:pPr>
              <a:defRPr sz="2175" b="0">
                <a:solidFill>
                  <a:srgbClr val="132F46"/>
                </a:solidFill>
              </a:defRPr>
            </a:pPr>
            <a:r>
              <a:rPr sz="2175" b="0">
                <a:solidFill>
                  <a:srgbClr val="132F46"/>
                </a:solidFill>
              </a:rPr>
              <a:t>selected feature measurements</a:t>
            </a:r>
          </a:p>
        </p:txBody>
      </p:sp>
      <p:sp>
        <p:nvSpPr>
          <p:cNvPr id="9" name="">
            <a:extLst xmlns:a="http://schemas.openxmlformats.org/drawingml/2006/main">
              <a:ext uri="{FF2B5EF4-FFF2-40B4-BE49-F238E27FC236}">
                <a16:creationId xmlns:a16="http://schemas.microsoft.com/office/drawing/2014/main" id="{9D0615A0-D376-489C-ADE2-1944261C406B}"/>
              </a:ext>
            </a:extLst>
          </p:cNvPr>
          <p:cNvSpPr>
            <a:spLocks xmlns:a="http://schemas.openxmlformats.org/drawingml/2006/main" noGrp="1"/>
          </p:cNvSpPr>
          <p:nvPr/>
        </p:nvSpPr>
        <p:spPr>
          <a:xfrm xmlns:a="http://schemas.openxmlformats.org/drawingml/2006/main">
            <a:off x="685800" y="4229100"/>
            <a:ext cx="10477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32F46"/>
                </a:solidFill>
              </a:defRPr>
            </a:defPPr>
            <a:lvl1pPr>
              <a:defRPr sz="2250" b="0">
                <a:solidFill>
                  <a:srgbClr val="132F46"/>
                </a:solidFill>
              </a:defRPr>
            </a:lvl1pPr>
            <a:lvl2pPr>
              <a:defRPr sz="2250" b="0">
                <a:solidFill>
                  <a:srgbClr val="132F46"/>
                </a:solidFill>
              </a:defRPr>
            </a:lvl2pPr>
            <a:lvl3pPr>
              <a:defRPr sz="2250" b="0">
                <a:solidFill>
                  <a:srgbClr val="132F46"/>
                </a:solidFill>
              </a:defRPr>
            </a:lvl3pPr>
            <a:lvl4pPr>
              <a:defRPr sz="2250" b="0">
                <a:solidFill>
                  <a:srgbClr val="132F46"/>
                </a:solidFill>
              </a:defRPr>
            </a:lvl4pPr>
            <a:lvl5pPr>
              <a:defRPr sz="2250" b="0">
                <a:solidFill>
                  <a:srgbClr val="132F46"/>
                </a:solidFill>
              </a:defRPr>
            </a:lvl5pPr>
            <a:lvl6pPr>
              <a:defRPr sz="2250" b="0">
                <a:solidFill>
                  <a:srgbClr val="132F46"/>
                </a:solidFill>
              </a:defRPr>
            </a:lvl6pPr>
            <a:lvl7pPr>
              <a:defRPr sz="2250" b="0">
                <a:solidFill>
                  <a:srgbClr val="132F46"/>
                </a:solidFill>
              </a:defRPr>
            </a:lvl7pPr>
            <a:lvl8pPr>
              <a:defRPr sz="2250" b="0">
                <a:solidFill>
                  <a:srgbClr val="132F46"/>
                </a:solidFill>
              </a:defRPr>
            </a:lvl8pPr>
            <a:lvl9pPr>
              <a:defRPr sz="2250" b="0">
                <a:solidFill>
                  <a:srgbClr val="132F46"/>
                </a:solidFill>
              </a:defRPr>
            </a:lvl9pPr>
          </a:lstStyle>
          <a:p xmlns:a="http://schemas.openxmlformats.org/drawingml/2006/main">
            <a:pPr>
              <a:defRPr sz="2250" b="0">
                <a:solidFill>
                  <a:srgbClr val="132F46"/>
                </a:solidFill>
              </a:defRPr>
            </a:pPr>
            <a:r>
              <a:rPr sz="2250" b="0">
                <a:solidFill>
                  <a:srgbClr val="132F46"/>
                </a:solidFill>
              </a:rPr>
              <a:t>Three training folds score each tree candidate.</a:t>
            </a:r>
          </a:p>
          <a:p xmlns:a="http://schemas.openxmlformats.org/drawingml/2006/main">
            <a:pPr>
              <a:defRPr sz="2250" b="0">
                <a:solidFill>
                  <a:srgbClr val="132F46"/>
                </a:solidFill>
              </a:defRPr>
            </a:pPr>
            <a:r>
              <a:rPr sz="2250" b="0">
                <a:solidFill>
                  <a:srgbClr val="132F46"/>
                </a:solidFill>
              </a:rPr>
              <a:t>Validation results decide whether the added complexity helps.</a:t>
            </a:r>
          </a:p>
        </p:txBody>
      </p:sp>
      <p:sp>
        <p:nvSpPr>
          <p:cNvPr id="10" name="">
            <a:extLst xmlns:a="http://schemas.openxmlformats.org/drawingml/2006/main">
              <a:ext uri="{FF2B5EF4-FFF2-40B4-BE49-F238E27FC236}">
                <a16:creationId xmlns:a16="http://schemas.microsoft.com/office/drawing/2014/main" id="{CB7842CF-F72D-474C-B282-333E7D1ADC4A}"/>
              </a:ext>
            </a:extLst>
          </p:cNvPr>
          <p:cNvSpPr>
            <a:spLocks xmlns:a="http://schemas.openxmlformats.org/drawingml/2006/main" noGrp="1"/>
          </p:cNvSpPr>
          <p:nvPr/>
        </p:nvSpPr>
        <p:spPr>
          <a:xfrm xmlns:a="http://schemas.openxmlformats.org/drawingml/2006/main">
            <a:off x="685800" y="56007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86B7B"/>
                </a:solidFill>
              </a:defRPr>
            </a:defPPr>
            <a:lvl1pPr>
              <a:defRPr sz="1800" b="0">
                <a:solidFill>
                  <a:srgbClr val="586B7B"/>
                </a:solidFill>
              </a:defRPr>
            </a:lvl1pPr>
            <a:lvl2pPr>
              <a:defRPr sz="1800" b="0">
                <a:solidFill>
                  <a:srgbClr val="586B7B"/>
                </a:solidFill>
              </a:defRPr>
            </a:lvl2pPr>
            <a:lvl3pPr>
              <a:defRPr sz="1800" b="0">
                <a:solidFill>
                  <a:srgbClr val="586B7B"/>
                </a:solidFill>
              </a:defRPr>
            </a:lvl3pPr>
            <a:lvl4pPr>
              <a:defRPr sz="1800" b="0">
                <a:solidFill>
                  <a:srgbClr val="586B7B"/>
                </a:solidFill>
              </a:defRPr>
            </a:lvl4pPr>
            <a:lvl5pPr>
              <a:defRPr sz="1800" b="0">
                <a:solidFill>
                  <a:srgbClr val="586B7B"/>
                </a:solidFill>
              </a:defRPr>
            </a:lvl5pPr>
            <a:lvl6pPr>
              <a:defRPr sz="1800" b="0">
                <a:solidFill>
                  <a:srgbClr val="586B7B"/>
                </a:solidFill>
              </a:defRPr>
            </a:lvl6pPr>
            <a:lvl7pPr>
              <a:defRPr sz="1800" b="0">
                <a:solidFill>
                  <a:srgbClr val="586B7B"/>
                </a:solidFill>
              </a:defRPr>
            </a:lvl7pPr>
            <a:lvl8pPr>
              <a:defRPr sz="1800" b="0">
                <a:solidFill>
                  <a:srgbClr val="586B7B"/>
                </a:solidFill>
              </a:defRPr>
            </a:lvl8pPr>
            <a:lvl9pPr>
              <a:defRPr sz="1800" b="0">
                <a:solidFill>
                  <a:srgbClr val="586B7B"/>
                </a:solidFill>
              </a:defRPr>
            </a:lvl9pPr>
          </a:lstStyle>
          <a:p xmlns:a="http://schemas.openxmlformats.org/drawingml/2006/main">
            <a:pPr>
              <a:defRPr sz="1800" b="0">
                <a:solidFill>
                  <a:srgbClr val="586B7B"/>
                </a:solidFill>
              </a:defRPr>
            </a:pPr>
            <a:r>
              <a:rPr sz="1800" b="0">
                <a:solidFill>
                  <a:srgbClr val="586B7B"/>
                </a:solidFill>
              </a:rPr>
              <a:t>Search winner: unlimited depth, leaf size 1, Gini criterion</a:t>
            </a:r>
          </a:p>
        </p:txBody>
      </p:sp>
    </p:spTree>
    <p:extLst>
      <p:ext uri="{BB962C8B-B14F-4D97-AF65-F5344CB8AC3E}">
        <p14:creationId xmlns:p14="http://schemas.microsoft.com/office/powerpoint/2010/main" val="336955523"/>
      </p:ext>
    </p:extLst>
  </p:cSld>
</p:sld>
</file>

<file path=ppt/slides/slide8.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457B98-1FA6-4554-99CA-D9492955C6A8}"/>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433EB0B7-72F8-4200-9B05-D0D339BCA846}"/>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Boosting achieves the highest validation macro F1</a:t>
            </a:r>
          </a:p>
        </p:txBody>
      </p:sp>
      <p:sp>
        <p:nvSpPr>
          <p:cNvPr id="3" name="">
            <a:extLst xmlns:a="http://schemas.openxmlformats.org/drawingml/2006/main">
              <a:ext uri="{FF2B5EF4-FFF2-40B4-BE49-F238E27FC236}">
                <a16:creationId xmlns:a16="http://schemas.microsoft.com/office/drawing/2014/main" id="{AD334012-194D-4CC9-B612-E084BAE0011E}"/>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D784ADB5-0700-4EFF-814A-5E057C61B525}"/>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08</a:t>
            </a:r>
          </a:p>
        </p:txBody>
      </p:sp>
      <p:graphicFrame>
        <p:nvGraphicFramePr>
          <p:cNvPr id="5" name="Chart">
            <a:extLst xmlns:a="http://schemas.openxmlformats.org/drawingml/2006/main">
              <a:ext uri="{FF2B5EF4-FFF2-40B4-BE49-F238E27FC236}">
                <a16:creationId xmlns:a16="http://schemas.microsoft.com/office/drawing/2014/main" id="{4B99E246-3440-4FE2-A837-548CD5D35B1E}"/>
              </a:ext>
            </a:extLst>
          </p:cNvPr>
          <p:cNvGraphicFramePr/>
          <p:nvPr/>
        </p:nvGraphicFramePr>
        <p:xfrm>
          <a:off xmlns:a="http://schemas.openxmlformats.org/drawingml/2006/main" x="609600" y="1790700"/>
          <a:ext xmlns:a="http://schemas.openxmlformats.org/drawingml/2006/main" cx="10858500" cy="4000500"/>
        </p:xfrm>
        <a:graphic xmlns:a="http://schemas.openxmlformats.org/drawingml/2006/main">
          <a:graphicData uri="http://schemas.openxmlformats.org/drawingml/2006/chart">
            <c:chart xmlns:r="http://schemas.openxmlformats.org/officeDocument/2006/relationships" xmlns:c="http://schemas.openxmlformats.org/drawingml/2006/chart" r:id="Rc9649c86a1cf49be"/>
          </a:graphicData>
        </a:graphic>
      </p:graphicFrame>
      <p:sp>
        <p:nvSpPr>
          <p:cNvPr id="6" name="">
            <a:extLst xmlns:a="http://schemas.openxmlformats.org/drawingml/2006/main">
              <a:ext uri="{FF2B5EF4-FFF2-40B4-BE49-F238E27FC236}">
                <a16:creationId xmlns:a16="http://schemas.microsoft.com/office/drawing/2014/main" id="{C6B31336-D34E-4B40-B78A-D689A0ADA3B8}"/>
              </a:ext>
            </a:extLst>
          </p:cNvPr>
          <p:cNvSpPr>
            <a:spLocks xmlns:a="http://schemas.openxmlformats.org/drawingml/2006/main" noGrp="1"/>
          </p:cNvSpPr>
          <p:nvPr/>
        </p:nvSpPr>
        <p:spPr>
          <a:xfrm xmlns:a="http://schemas.openxmlformats.org/drawingml/2006/main">
            <a:off x="685800" y="59055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86B7B"/>
                </a:solidFill>
              </a:defRPr>
            </a:defPPr>
            <a:lvl1pPr>
              <a:defRPr sz="1800" b="0">
                <a:solidFill>
                  <a:srgbClr val="586B7B"/>
                </a:solidFill>
              </a:defRPr>
            </a:lvl1pPr>
            <a:lvl2pPr>
              <a:defRPr sz="1800" b="0">
                <a:solidFill>
                  <a:srgbClr val="586B7B"/>
                </a:solidFill>
              </a:defRPr>
            </a:lvl2pPr>
            <a:lvl3pPr>
              <a:defRPr sz="1800" b="0">
                <a:solidFill>
                  <a:srgbClr val="586B7B"/>
                </a:solidFill>
              </a:defRPr>
            </a:lvl3pPr>
            <a:lvl4pPr>
              <a:defRPr sz="1800" b="0">
                <a:solidFill>
                  <a:srgbClr val="586B7B"/>
                </a:solidFill>
              </a:defRPr>
            </a:lvl4pPr>
            <a:lvl5pPr>
              <a:defRPr sz="1800" b="0">
                <a:solidFill>
                  <a:srgbClr val="586B7B"/>
                </a:solidFill>
              </a:defRPr>
            </a:lvl5pPr>
            <a:lvl6pPr>
              <a:defRPr sz="1800" b="0">
                <a:solidFill>
                  <a:srgbClr val="586B7B"/>
                </a:solidFill>
              </a:defRPr>
            </a:lvl6pPr>
            <a:lvl7pPr>
              <a:defRPr sz="1800" b="0">
                <a:solidFill>
                  <a:srgbClr val="586B7B"/>
                </a:solidFill>
              </a:defRPr>
            </a:lvl7pPr>
            <a:lvl8pPr>
              <a:defRPr sz="1800" b="0">
                <a:solidFill>
                  <a:srgbClr val="586B7B"/>
                </a:solidFill>
              </a:defRPr>
            </a:lvl8pPr>
            <a:lvl9pPr>
              <a:defRPr sz="1800" b="0">
                <a:solidFill>
                  <a:srgbClr val="586B7B"/>
                </a:solidFill>
              </a:defRPr>
            </a:lvl9pPr>
          </a:lstStyle>
          <a:p xmlns:a="http://schemas.openxmlformats.org/drawingml/2006/main">
            <a:pPr>
              <a:defRPr sz="1800" b="0">
                <a:solidFill>
                  <a:srgbClr val="586B7B"/>
                </a:solidFill>
              </a:defRPr>
            </a:pPr>
            <a:r>
              <a:rPr sz="1800" b="0">
                <a:solidFill>
                  <a:srgbClr val="586B7B"/>
                </a:solidFill>
              </a:rPr>
              <a:t>Macro F1 gives each traffic category equal weight</a:t>
            </a:r>
          </a:p>
        </p:txBody>
      </p:sp>
    </p:spTree>
    <p:extLst>
      <p:ext uri="{BB962C8B-B14F-4D97-AF65-F5344CB8AC3E}">
        <p14:creationId xmlns:p14="http://schemas.microsoft.com/office/powerpoint/2010/main" val="2100084772"/>
      </p:ext>
    </p:extLst>
  </p:cSld>
</p:sld>
</file>

<file path=ppt/slides/slide9.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6543287-2ED5-40E8-BA00-2317868D3AF1}"/>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00E1A0B8-9265-4F94-8B1B-30517FF82BA8}"/>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Cross validation shows variation across folds</a:t>
            </a:r>
          </a:p>
        </p:txBody>
      </p:sp>
      <p:sp>
        <p:nvSpPr>
          <p:cNvPr id="3" name="">
            <a:extLst xmlns:a="http://schemas.openxmlformats.org/drawingml/2006/main">
              <a:ext uri="{FF2B5EF4-FFF2-40B4-BE49-F238E27FC236}">
                <a16:creationId xmlns:a16="http://schemas.microsoft.com/office/drawing/2014/main" id="{F0A56D76-5C50-495B-A76E-93F60903ED09}"/>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56D5D609-030F-4C50-8C0F-D98460B3A4D6}"/>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09</a:t>
            </a:r>
          </a:p>
        </p:txBody>
      </p:sp>
      <p:graphicFrame>
        <p:nvGraphicFramePr>
          <p:cNvPr id="5" name="">
            <a:extLst xmlns:a="http://schemas.openxmlformats.org/drawingml/2006/main">
              <a:ext uri="{FF2B5EF4-FFF2-40B4-BE49-F238E27FC236}">
                <a16:creationId xmlns:a16="http://schemas.microsoft.com/office/drawing/2014/main" id="{C65BA2FC-7EC6-441A-87C2-C59E3A779F2C}"/>
              </a:ext>
            </a:extLst>
          </p:cNvPr>
          <p:cNvGraphicFramePr/>
          <p:nvPr/>
        </p:nvGraphicFramePr>
        <p:xfrm>
          <a:off xmlns:a="http://schemas.openxmlformats.org/drawingml/2006/main" x="685800" y="1866900"/>
          <a:ext xmlns:a="http://schemas.openxmlformats.org/drawingml/2006/main" cx="10820400" cy="4048125"/>
        </p:xfrm>
        <a:graphic xmlns:a="http://schemas.openxmlformats.org/drawingml/2006/main">
          <a:graphicData uri="http://schemas.openxmlformats.org/drawingml/2006/table">
            <a:tbl>
              <a:tblPr/>
              <a:tblGrid>
                <a:gridCol w="5048250"/>
                <a:gridCol w="2886075"/>
                <a:gridCol w="2886075"/>
              </a:tblGrid>
              <a:tr h="449792">
                <a:tc>
                  <a:txBody>
                    <a:bodyPr/>
                    <a:lstStyle/>
                    <a:p>
                      <a:r>
                        <a:rPr sz="1650" b="1">
                          <a:solidFill>
                            <a:srgbClr val="FFFFFF"/>
                          </a:solidFill>
                        </a:rPr>
                        <a:t>Configuration</a:t>
                      </a:r>
                    </a:p>
                  </a:txBody>
                  <a:tcPr marL="114300" marR="114300" marT="57150" marB="57150" anchor="ctr">
                    <a:lnL w="9525">
                      <a:solidFill>
                        <a:srgbClr val="D9E2EA"/>
                      </a:solidFill>
                      <a:prstDash val="solid"/>
                    </a:lnL>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650" b="1">
                          <a:solidFill>
                            <a:srgbClr val="FFFFFF"/>
                          </a:solidFill>
                        </a:rPr>
                        <a:t>CV mean macro F1</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650" b="1">
                          <a:solidFill>
                            <a:srgbClr val="FFFFFF"/>
                          </a:solidFill>
                        </a:rPr>
                        <a:t>Fold standard deviation</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r>
              <a:tr h="449792">
                <a:tc>
                  <a:txBody>
                    <a:bodyPr/>
                    <a:lstStyle/>
                    <a:p>
                      <a:r>
                        <a:rPr sz="1650">
                          <a:solidFill>
                            <a:srgbClr val="132F46"/>
                          </a:solidFill>
                        </a:rPr>
                        <a:t>Majority baseline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650">
                          <a:solidFill>
                            <a:srgbClr val="132F46"/>
                          </a:solidFill>
                        </a:rPr>
                        <a:t>0.0943</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650">
                          <a:solidFill>
                            <a:srgbClr val="132F46"/>
                          </a:solidFill>
                        </a:rPr>
                        <a:t>0.0000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49792">
                <a:tc>
                  <a:txBody>
                    <a:bodyPr/>
                    <a:lstStyle/>
                    <a:p>
                      <a:r>
                        <a:rPr sz="1650">
                          <a:solidFill>
                            <a:srgbClr val="132F46"/>
                          </a:solidFill>
                        </a:rPr>
                        <a:t>Decision Tree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650">
                          <a:solidFill>
                            <a:srgbClr val="132F46"/>
                          </a:solidFill>
                        </a:rPr>
                        <a:t>0.9076</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650">
                          <a:solidFill>
                            <a:srgbClr val="132F46"/>
                          </a:solidFill>
                        </a:rPr>
                        <a:t>0.0512</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49792">
                <a:tc>
                  <a:txBody>
                    <a:bodyPr/>
                    <a:lstStyle/>
                    <a:p>
                      <a:r>
                        <a:rPr sz="1650">
                          <a:solidFill>
                            <a:srgbClr val="132F46"/>
                          </a:solidFill>
                        </a:rPr>
                        <a:t>Tuned Decision Tree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650">
                          <a:solidFill>
                            <a:srgbClr val="132F46"/>
                          </a:solidFill>
                        </a:rPr>
                        <a:t>0.9081</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650">
                          <a:solidFill>
                            <a:srgbClr val="132F46"/>
                          </a:solidFill>
                        </a:rPr>
                        <a:t>0.0511</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49792">
                <a:tc>
                  <a:txBody>
                    <a:bodyPr/>
                    <a:lstStyle/>
                    <a:p>
                      <a:r>
                        <a:rPr sz="1650">
                          <a:solidFill>
                            <a:srgbClr val="132F46"/>
                          </a:solidFill>
                        </a:rPr>
                        <a:t>Random Forest</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650">
                          <a:solidFill>
                            <a:srgbClr val="132F46"/>
                          </a:solidFill>
                        </a:rPr>
                        <a:t>0.9166</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650">
                          <a:solidFill>
                            <a:srgbClr val="132F46"/>
                          </a:solidFill>
                        </a:rPr>
                        <a:t>0.0460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49792">
                <a:tc>
                  <a:txBody>
                    <a:bodyPr/>
                    <a:lstStyle/>
                    <a:p>
                      <a:r>
                        <a:rPr sz="1650">
                          <a:solidFill>
                            <a:srgbClr val="132F46"/>
                          </a:solidFill>
                        </a:rPr>
                        <a:t>Extra Trees</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650">
                          <a:solidFill>
                            <a:srgbClr val="132F46"/>
                          </a:solidFill>
                        </a:rPr>
                        <a:t>0.8958</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650">
                          <a:solidFill>
                            <a:srgbClr val="132F46"/>
                          </a:solidFill>
                        </a:rPr>
                        <a:t>0.0365</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49792">
                <a:tc>
                  <a:txBody>
                    <a:bodyPr/>
                    <a:lstStyle/>
                    <a:p>
                      <a:r>
                        <a:rPr sz="1650">
                          <a:solidFill>
                            <a:srgbClr val="132F46"/>
                          </a:solidFill>
                        </a:rPr>
                        <a:t>Histogram Gradient Boosting</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650">
                          <a:solidFill>
                            <a:srgbClr val="132F46"/>
                          </a:solidFill>
                        </a:rPr>
                        <a:t>0.9296</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650">
                          <a:solidFill>
                            <a:srgbClr val="132F46"/>
                          </a:solidFill>
                        </a:rPr>
                        <a:t>0.0404</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49792">
                <a:tc>
                  <a:txBody>
                    <a:bodyPr/>
                    <a:lstStyle/>
                    <a:p>
                      <a:r>
                        <a:rPr sz="1650">
                          <a:solidFill>
                            <a:srgbClr val="132F46"/>
                          </a:solidFill>
                        </a:rPr>
                        <a:t>Top 20 features Tree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650">
                          <a:solidFill>
                            <a:srgbClr val="132F46"/>
                          </a:solidFill>
                        </a:rPr>
                        <a:t>0.8948</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650">
                          <a:solidFill>
                            <a:srgbClr val="132F46"/>
                          </a:solidFill>
                        </a:rPr>
                        <a:t>0.0550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49792">
                <a:tc>
                  <a:txBody>
                    <a:bodyPr/>
                    <a:lstStyle/>
                    <a:p>
                      <a:r>
                        <a:rPr sz="1650">
                          <a:solidFill>
                            <a:srgbClr val="132F46"/>
                          </a:solidFill>
                        </a:rPr>
                        <a:t>Stacking ensemble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650">
                          <a:solidFill>
                            <a:srgbClr val="132F46"/>
                          </a:solidFill>
                        </a:rPr>
                        <a:t>0.8478</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650">
                          <a:solidFill>
                            <a:srgbClr val="132F46"/>
                          </a:solidFill>
                        </a:rPr>
                        <a:t>0.0035</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9FBB4F77-6B6C-4827-B993-A25BFBB10104}"/>
              </a:ext>
            </a:extLst>
          </p:cNvPr>
          <p:cNvSpPr>
            <a:spLocks xmlns:a="http://schemas.openxmlformats.org/drawingml/2006/main" noGrp="1"/>
          </p:cNvSpPr>
          <p:nvPr/>
        </p:nvSpPr>
        <p:spPr>
          <a:xfrm xmlns:a="http://schemas.openxmlformats.org/drawingml/2006/main">
            <a:off x="685800" y="6029325"/>
            <a:ext cx="10820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86B7B"/>
                </a:solidFill>
              </a:defRPr>
            </a:defPPr>
            <a:lvl1pPr>
              <a:defRPr sz="1500" b="0">
                <a:solidFill>
                  <a:srgbClr val="586B7B"/>
                </a:solidFill>
              </a:defRPr>
            </a:lvl1pPr>
            <a:lvl2pPr>
              <a:defRPr sz="1500" b="0">
                <a:solidFill>
                  <a:srgbClr val="586B7B"/>
                </a:solidFill>
              </a:defRPr>
            </a:lvl2pPr>
            <a:lvl3pPr>
              <a:defRPr sz="1500" b="0">
                <a:solidFill>
                  <a:srgbClr val="586B7B"/>
                </a:solidFill>
              </a:defRPr>
            </a:lvl3pPr>
            <a:lvl4pPr>
              <a:defRPr sz="1500" b="0">
                <a:solidFill>
                  <a:srgbClr val="586B7B"/>
                </a:solidFill>
              </a:defRPr>
            </a:lvl4pPr>
            <a:lvl5pPr>
              <a:defRPr sz="1500" b="0">
                <a:solidFill>
                  <a:srgbClr val="586B7B"/>
                </a:solidFill>
              </a:defRPr>
            </a:lvl5pPr>
            <a:lvl6pPr>
              <a:defRPr sz="1500" b="0">
                <a:solidFill>
                  <a:srgbClr val="586B7B"/>
                </a:solidFill>
              </a:defRPr>
            </a:lvl6pPr>
            <a:lvl7pPr>
              <a:defRPr sz="1500" b="0">
                <a:solidFill>
                  <a:srgbClr val="586B7B"/>
                </a:solidFill>
              </a:defRPr>
            </a:lvl7pPr>
            <a:lvl8pPr>
              <a:defRPr sz="1500" b="0">
                <a:solidFill>
                  <a:srgbClr val="586B7B"/>
                </a:solidFill>
              </a:defRPr>
            </a:lvl8pPr>
            <a:lvl9pPr>
              <a:defRPr sz="1500" b="0">
                <a:solidFill>
                  <a:srgbClr val="586B7B"/>
                </a:solidFill>
              </a:defRPr>
            </a:lvl9pPr>
          </a:lstStyle>
          <a:p xmlns:a="http://schemas.openxmlformats.org/drawingml/2006/main">
            <a:pPr>
              <a:defRPr sz="1500" b="0">
                <a:solidFill>
                  <a:srgbClr val="586B7B"/>
                </a:solidFill>
              </a:defRPr>
            </a:pPr>
            <a:r>
              <a:rPr sz="1500" b="0">
                <a:solidFill>
                  <a:srgbClr val="586B7B"/>
                </a:solidFill>
              </a:rPr>
              <a:t>Tuned-tree CV reuses search folds. Selection uses validation macro F1.</a:t>
            </a:r>
          </a:p>
        </p:txBody>
      </p:sp>
    </p:spTree>
    <p:extLst>
      <p:ext uri="{BB962C8B-B14F-4D97-AF65-F5344CB8AC3E}">
        <p14:creationId xmlns:p14="http://schemas.microsoft.com/office/powerpoint/2010/main" val="1368673648"/>
      </p:ext>
    </p:extLst>
  </p:cSld>
</p:sld>
</file>

<file path=ppt/slides/slide10.xml><?xml version="1.0" encoding="utf-8"?>
<p:sld xmlns:p="http://schemas.openxmlformats.org/presentationml/2006/main">
  <p:cSld>
    <p:bg>
      <p:bgPr>
        <a:solidFill xmlns:a="http://schemas.openxmlformats.org/drawingml/2006/main">
          <a:srgbClr val="132F46"/>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B23972CD-EAFA-4C47-937B-65D47183F349}"/>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97D8DC"/>
                </a:solidFill>
              </a:defRPr>
            </a:defPPr>
            <a:lvl1pPr>
              <a:defRPr sz="1200" b="1">
                <a:solidFill>
                  <a:srgbClr val="97D8DC"/>
                </a:solidFill>
              </a:defRPr>
            </a:lvl1pPr>
            <a:lvl2pPr>
              <a:defRPr sz="1200" b="1">
                <a:solidFill>
                  <a:srgbClr val="97D8DC"/>
                </a:solidFill>
              </a:defRPr>
            </a:lvl2pPr>
            <a:lvl3pPr>
              <a:defRPr sz="1200" b="1">
                <a:solidFill>
                  <a:srgbClr val="97D8DC"/>
                </a:solidFill>
              </a:defRPr>
            </a:lvl3pPr>
            <a:lvl4pPr>
              <a:defRPr sz="1200" b="1">
                <a:solidFill>
                  <a:srgbClr val="97D8DC"/>
                </a:solidFill>
              </a:defRPr>
            </a:lvl4pPr>
            <a:lvl5pPr>
              <a:defRPr sz="1200" b="1">
                <a:solidFill>
                  <a:srgbClr val="97D8DC"/>
                </a:solidFill>
              </a:defRPr>
            </a:lvl5pPr>
            <a:lvl6pPr>
              <a:defRPr sz="1200" b="1">
                <a:solidFill>
                  <a:srgbClr val="97D8DC"/>
                </a:solidFill>
              </a:defRPr>
            </a:lvl6pPr>
            <a:lvl7pPr>
              <a:defRPr sz="1200" b="1">
                <a:solidFill>
                  <a:srgbClr val="97D8DC"/>
                </a:solidFill>
              </a:defRPr>
            </a:lvl7pPr>
            <a:lvl8pPr>
              <a:defRPr sz="1200" b="1">
                <a:solidFill>
                  <a:srgbClr val="97D8DC"/>
                </a:solidFill>
              </a:defRPr>
            </a:lvl8pPr>
            <a:lvl9pPr>
              <a:defRPr sz="1200" b="1">
                <a:solidFill>
                  <a:srgbClr val="97D8DC"/>
                </a:solidFill>
              </a:defRPr>
            </a:lvl9pPr>
          </a:lstStyle>
          <a:p xmlns:a="http://schemas.openxmlformats.org/drawingml/2006/main">
            <a:pPr>
              <a:defRPr sz="1200" b="1">
                <a:solidFill>
                  <a:srgbClr val="97D8DC"/>
                </a:solidFill>
              </a:defRPr>
            </a:pPr>
            <a:r>
              <a:rPr sz="1200" b="1">
                <a:solidFill>
                  <a:srgbClr val="97D8DC"/>
                </a:solidFill>
              </a:rPr>
              <a:t>PDEU   /   MACHINE LEARNING LABORATORY</a:t>
            </a:r>
          </a:p>
        </p:txBody>
      </p:sp>
      <p:sp>
        <p:nvSpPr>
          <p:cNvPr id="2" name="">
            <a:extLst xmlns:a="http://schemas.openxmlformats.org/drawingml/2006/main">
              <a:ext uri="{FF2B5EF4-FFF2-40B4-BE49-F238E27FC236}">
                <a16:creationId xmlns:a16="http://schemas.microsoft.com/office/drawing/2014/main" id="{C6D99B85-E25A-490E-A981-BBA8418A86B4}"/>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FFFFFF"/>
                </a:solidFill>
              </a:defRPr>
            </a:defPPr>
            <a:lvl1pPr>
              <a:defRPr sz="3150" b="1">
                <a:solidFill>
                  <a:srgbClr val="FFFFFF"/>
                </a:solidFill>
              </a:defRPr>
            </a:lvl1pPr>
            <a:lvl2pPr>
              <a:defRPr sz="3150" b="1">
                <a:solidFill>
                  <a:srgbClr val="FFFFFF"/>
                </a:solidFill>
              </a:defRPr>
            </a:lvl2pPr>
            <a:lvl3pPr>
              <a:defRPr sz="3150" b="1">
                <a:solidFill>
                  <a:srgbClr val="FFFFFF"/>
                </a:solidFill>
              </a:defRPr>
            </a:lvl3pPr>
            <a:lvl4pPr>
              <a:defRPr sz="3150" b="1">
                <a:solidFill>
                  <a:srgbClr val="FFFFFF"/>
                </a:solidFill>
              </a:defRPr>
            </a:lvl4pPr>
            <a:lvl5pPr>
              <a:defRPr sz="3150" b="1">
                <a:solidFill>
                  <a:srgbClr val="FFFFFF"/>
                </a:solidFill>
              </a:defRPr>
            </a:lvl5pPr>
            <a:lvl6pPr>
              <a:defRPr sz="3150" b="1">
                <a:solidFill>
                  <a:srgbClr val="FFFFFF"/>
                </a:solidFill>
              </a:defRPr>
            </a:lvl6pPr>
            <a:lvl7pPr>
              <a:defRPr sz="3150" b="1">
                <a:solidFill>
                  <a:srgbClr val="FFFFFF"/>
                </a:solidFill>
              </a:defRPr>
            </a:lvl7pPr>
            <a:lvl8pPr>
              <a:defRPr sz="3150" b="1">
                <a:solidFill>
                  <a:srgbClr val="FFFFFF"/>
                </a:solidFill>
              </a:defRPr>
            </a:lvl8pPr>
            <a:lvl9pPr>
              <a:defRPr sz="3150" b="1">
                <a:solidFill>
                  <a:srgbClr val="FFFFFF"/>
                </a:solidFill>
              </a:defRPr>
            </a:lvl9pPr>
          </a:lstStyle>
          <a:p xmlns:a="http://schemas.openxmlformats.org/drawingml/2006/main">
            <a:pPr>
              <a:defRPr sz="3150" b="1">
                <a:solidFill>
                  <a:srgbClr val="FFFFFF"/>
                </a:solidFill>
              </a:defRPr>
            </a:pPr>
            <a:r>
              <a:rPr sz="3150" b="1">
                <a:solidFill>
                  <a:srgbClr val="FFFFFF"/>
                </a:solidFill>
              </a:rPr>
              <a:t>The selected model reaches 99.61 percent test accuracy</a:t>
            </a:r>
          </a:p>
        </p:txBody>
      </p:sp>
      <p:sp>
        <p:nvSpPr>
          <p:cNvPr id="3" name="">
            <a:extLst xmlns:a="http://schemas.openxmlformats.org/drawingml/2006/main">
              <a:ext uri="{FF2B5EF4-FFF2-40B4-BE49-F238E27FC236}">
                <a16:creationId xmlns:a16="http://schemas.microsoft.com/office/drawing/2014/main" id="{A3E28927-E421-4EA4-80D1-2A7B74CF794B}"/>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7CEDB"/>
                </a:solidFill>
              </a:defRPr>
            </a:defPPr>
            <a:lvl1pPr>
              <a:defRPr sz="1125" b="0">
                <a:solidFill>
                  <a:srgbClr val="B7CEDB"/>
                </a:solidFill>
              </a:defRPr>
            </a:lvl1pPr>
            <a:lvl2pPr>
              <a:defRPr sz="1125" b="0">
                <a:solidFill>
                  <a:srgbClr val="B7CEDB"/>
                </a:solidFill>
              </a:defRPr>
            </a:lvl2pPr>
            <a:lvl3pPr>
              <a:defRPr sz="1125" b="0">
                <a:solidFill>
                  <a:srgbClr val="B7CEDB"/>
                </a:solidFill>
              </a:defRPr>
            </a:lvl3pPr>
            <a:lvl4pPr>
              <a:defRPr sz="1125" b="0">
                <a:solidFill>
                  <a:srgbClr val="B7CEDB"/>
                </a:solidFill>
              </a:defRPr>
            </a:lvl4pPr>
            <a:lvl5pPr>
              <a:defRPr sz="1125" b="0">
                <a:solidFill>
                  <a:srgbClr val="B7CEDB"/>
                </a:solidFill>
              </a:defRPr>
            </a:lvl5pPr>
            <a:lvl6pPr>
              <a:defRPr sz="1125" b="0">
                <a:solidFill>
                  <a:srgbClr val="B7CEDB"/>
                </a:solidFill>
              </a:defRPr>
            </a:lvl6pPr>
            <a:lvl7pPr>
              <a:defRPr sz="1125" b="0">
                <a:solidFill>
                  <a:srgbClr val="B7CEDB"/>
                </a:solidFill>
              </a:defRPr>
            </a:lvl7pPr>
            <a:lvl8pPr>
              <a:defRPr sz="1125" b="0">
                <a:solidFill>
                  <a:srgbClr val="B7CEDB"/>
                </a:solidFill>
              </a:defRPr>
            </a:lvl8pPr>
            <a:lvl9pPr>
              <a:defRPr sz="1125" b="0">
                <a:solidFill>
                  <a:srgbClr val="B7CEDB"/>
                </a:solidFill>
              </a:defRPr>
            </a:lvl9pPr>
          </a:lstStyle>
          <a:p xmlns:a="http://schemas.openxmlformats.org/drawingml/2006/main">
            <a:pPr>
              <a:defRPr sz="1125" b="0">
                <a:solidFill>
                  <a:srgbClr val="B7CEDB"/>
                </a:solidFill>
              </a:defRPr>
            </a:pPr>
            <a:r>
              <a:rPr sz="1125" b="0">
                <a:solidFill>
                  <a:srgbClr val="B7CEDB"/>
                </a:solidFill>
              </a:rPr>
              <a:t>Payas Vaishnav   •   23BCP430</a:t>
            </a:r>
          </a:p>
        </p:txBody>
      </p:sp>
      <p:sp>
        <p:nvSpPr>
          <p:cNvPr id="4" name="">
            <a:extLst xmlns:a="http://schemas.openxmlformats.org/drawingml/2006/main">
              <a:ext uri="{FF2B5EF4-FFF2-40B4-BE49-F238E27FC236}">
                <a16:creationId xmlns:a16="http://schemas.microsoft.com/office/drawing/2014/main" id="{D742593E-6DF4-4C81-AF4D-1013E0CBC18B}"/>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B7CEDB"/>
                </a:solidFill>
              </a:defRPr>
            </a:defPPr>
            <a:lvl1pPr>
              <a:defRPr sz="1125" b="0">
                <a:solidFill>
                  <a:srgbClr val="B7CEDB"/>
                </a:solidFill>
              </a:defRPr>
            </a:lvl1pPr>
            <a:lvl2pPr>
              <a:defRPr sz="1125" b="0">
                <a:solidFill>
                  <a:srgbClr val="B7CEDB"/>
                </a:solidFill>
              </a:defRPr>
            </a:lvl2pPr>
            <a:lvl3pPr>
              <a:defRPr sz="1125" b="0">
                <a:solidFill>
                  <a:srgbClr val="B7CEDB"/>
                </a:solidFill>
              </a:defRPr>
            </a:lvl3pPr>
            <a:lvl4pPr>
              <a:defRPr sz="1125" b="0">
                <a:solidFill>
                  <a:srgbClr val="B7CEDB"/>
                </a:solidFill>
              </a:defRPr>
            </a:lvl4pPr>
            <a:lvl5pPr>
              <a:defRPr sz="1125" b="0">
                <a:solidFill>
                  <a:srgbClr val="B7CEDB"/>
                </a:solidFill>
              </a:defRPr>
            </a:lvl5pPr>
            <a:lvl6pPr>
              <a:defRPr sz="1125" b="0">
                <a:solidFill>
                  <a:srgbClr val="B7CEDB"/>
                </a:solidFill>
              </a:defRPr>
            </a:lvl6pPr>
            <a:lvl7pPr>
              <a:defRPr sz="1125" b="0">
                <a:solidFill>
                  <a:srgbClr val="B7CEDB"/>
                </a:solidFill>
              </a:defRPr>
            </a:lvl7pPr>
            <a:lvl8pPr>
              <a:defRPr sz="1125" b="0">
                <a:solidFill>
                  <a:srgbClr val="B7CEDB"/>
                </a:solidFill>
              </a:defRPr>
            </a:lvl8pPr>
            <a:lvl9pPr>
              <a:defRPr sz="1125" b="0">
                <a:solidFill>
                  <a:srgbClr val="B7CEDB"/>
                </a:solidFill>
              </a:defRPr>
            </a:lvl9pPr>
          </a:lstStyle>
          <a:p xmlns:a="http://schemas.openxmlformats.org/drawingml/2006/main">
            <a:pPr>
              <a:defRPr sz="1125" b="0">
                <a:solidFill>
                  <a:srgbClr val="B7CEDB"/>
                </a:solidFill>
              </a:defRPr>
            </a:pPr>
            <a:r>
              <a:rPr sz="1125" b="0">
                <a:solidFill>
                  <a:srgbClr val="B7CEDB"/>
                </a:solidFill>
              </a:rPr>
              <a:t>10</a:t>
            </a:r>
          </a:p>
        </p:txBody>
      </p:sp>
      <p:sp>
        <p:nvSpPr>
          <p:cNvPr id="5" name="">
            <a:extLst xmlns:a="http://schemas.openxmlformats.org/drawingml/2006/main">
              <a:ext uri="{FF2B5EF4-FFF2-40B4-BE49-F238E27FC236}">
                <a16:creationId xmlns:a16="http://schemas.microsoft.com/office/drawing/2014/main" id="{40F24DE4-5B71-4E15-B61E-4AEA716F4F67}"/>
              </a:ext>
            </a:extLst>
          </p:cNvPr>
          <p:cNvSpPr>
            <a:spLocks xmlns:a="http://schemas.openxmlformats.org/drawingml/2006/main" noGrp="1"/>
          </p:cNvSpPr>
          <p:nvPr/>
        </p:nvSpPr>
        <p:spPr>
          <a:xfrm xmlns:a="http://schemas.openxmlformats.org/drawingml/2006/main">
            <a:off x="685800" y="2047875"/>
            <a:ext cx="5048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FFFFFF"/>
                </a:solidFill>
              </a:defRPr>
            </a:defPPr>
            <a:lvl1pPr>
              <a:defRPr sz="6600" b="1">
                <a:solidFill>
                  <a:srgbClr val="FFFFFF"/>
                </a:solidFill>
              </a:defRPr>
            </a:lvl1pPr>
            <a:lvl2pPr>
              <a:defRPr sz="6600" b="1">
                <a:solidFill>
                  <a:srgbClr val="FFFFFF"/>
                </a:solidFill>
              </a:defRPr>
            </a:lvl2pPr>
            <a:lvl3pPr>
              <a:defRPr sz="6600" b="1">
                <a:solidFill>
                  <a:srgbClr val="FFFFFF"/>
                </a:solidFill>
              </a:defRPr>
            </a:lvl3pPr>
            <a:lvl4pPr>
              <a:defRPr sz="6600" b="1">
                <a:solidFill>
                  <a:srgbClr val="FFFFFF"/>
                </a:solidFill>
              </a:defRPr>
            </a:lvl4pPr>
            <a:lvl5pPr>
              <a:defRPr sz="6600" b="1">
                <a:solidFill>
                  <a:srgbClr val="FFFFFF"/>
                </a:solidFill>
              </a:defRPr>
            </a:lvl5pPr>
            <a:lvl6pPr>
              <a:defRPr sz="6600" b="1">
                <a:solidFill>
                  <a:srgbClr val="FFFFFF"/>
                </a:solidFill>
              </a:defRPr>
            </a:lvl6pPr>
            <a:lvl7pPr>
              <a:defRPr sz="6600" b="1">
                <a:solidFill>
                  <a:srgbClr val="FFFFFF"/>
                </a:solidFill>
              </a:defRPr>
            </a:lvl7pPr>
            <a:lvl8pPr>
              <a:defRPr sz="6600" b="1">
                <a:solidFill>
                  <a:srgbClr val="FFFFFF"/>
                </a:solidFill>
              </a:defRPr>
            </a:lvl8pPr>
            <a:lvl9pPr>
              <a:defRPr sz="6600" b="1">
                <a:solidFill>
                  <a:srgbClr val="FFFFFF"/>
                </a:solidFill>
              </a:defRPr>
            </a:lvl9pPr>
          </a:lstStyle>
          <a:p xmlns:a="http://schemas.openxmlformats.org/drawingml/2006/main">
            <a:pPr>
              <a:defRPr sz="6600" b="1">
                <a:solidFill>
                  <a:srgbClr val="FFFFFF"/>
                </a:solidFill>
              </a:defRPr>
            </a:pPr>
            <a:r>
              <a:rPr sz="6600" b="1">
                <a:solidFill>
                  <a:srgbClr val="FFFFFF"/>
                </a:solidFill>
              </a:rPr>
              <a:t>99.61%</a:t>
            </a:r>
          </a:p>
        </p:txBody>
      </p:sp>
      <p:sp>
        <p:nvSpPr>
          <p:cNvPr id="6" name="">
            <a:extLst xmlns:a="http://schemas.openxmlformats.org/drawingml/2006/main">
              <a:ext uri="{FF2B5EF4-FFF2-40B4-BE49-F238E27FC236}">
                <a16:creationId xmlns:a16="http://schemas.microsoft.com/office/drawing/2014/main" id="{80D900E4-2A33-441D-B918-50E25E4C0B8A}"/>
              </a:ext>
            </a:extLst>
          </p:cNvPr>
          <p:cNvSpPr>
            <a:spLocks xmlns:a="http://schemas.openxmlformats.org/drawingml/2006/main" noGrp="1"/>
          </p:cNvSpPr>
          <p:nvPr/>
        </p:nvSpPr>
        <p:spPr>
          <a:xfrm xmlns:a="http://schemas.openxmlformats.org/drawingml/2006/main">
            <a:off x="685800" y="3248025"/>
            <a:ext cx="5048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7CEDB"/>
                </a:solidFill>
              </a:defRPr>
            </a:defPPr>
            <a:lvl1pPr>
              <a:defRPr sz="2250" b="0">
                <a:solidFill>
                  <a:srgbClr val="B7CEDB"/>
                </a:solidFill>
              </a:defRPr>
            </a:lvl1pPr>
            <a:lvl2pPr>
              <a:defRPr sz="2250" b="0">
                <a:solidFill>
                  <a:srgbClr val="B7CEDB"/>
                </a:solidFill>
              </a:defRPr>
            </a:lvl2pPr>
            <a:lvl3pPr>
              <a:defRPr sz="2250" b="0">
                <a:solidFill>
                  <a:srgbClr val="B7CEDB"/>
                </a:solidFill>
              </a:defRPr>
            </a:lvl3pPr>
            <a:lvl4pPr>
              <a:defRPr sz="2250" b="0">
                <a:solidFill>
                  <a:srgbClr val="B7CEDB"/>
                </a:solidFill>
              </a:defRPr>
            </a:lvl4pPr>
            <a:lvl5pPr>
              <a:defRPr sz="2250" b="0">
                <a:solidFill>
                  <a:srgbClr val="B7CEDB"/>
                </a:solidFill>
              </a:defRPr>
            </a:lvl5pPr>
            <a:lvl6pPr>
              <a:defRPr sz="2250" b="0">
                <a:solidFill>
                  <a:srgbClr val="B7CEDB"/>
                </a:solidFill>
              </a:defRPr>
            </a:lvl6pPr>
            <a:lvl7pPr>
              <a:defRPr sz="2250" b="0">
                <a:solidFill>
                  <a:srgbClr val="B7CEDB"/>
                </a:solidFill>
              </a:defRPr>
            </a:lvl7pPr>
            <a:lvl8pPr>
              <a:defRPr sz="2250" b="0">
                <a:solidFill>
                  <a:srgbClr val="B7CEDB"/>
                </a:solidFill>
              </a:defRPr>
            </a:lvl8pPr>
            <a:lvl9pPr>
              <a:defRPr sz="2250" b="0">
                <a:solidFill>
                  <a:srgbClr val="B7CEDB"/>
                </a:solidFill>
              </a:defRPr>
            </a:lvl9pPr>
          </a:lstStyle>
          <a:p xmlns:a="http://schemas.openxmlformats.org/drawingml/2006/main">
            <a:pPr>
              <a:defRPr sz="2250" b="0">
                <a:solidFill>
                  <a:srgbClr val="B7CEDB"/>
                </a:solidFill>
              </a:defRPr>
            </a:pPr>
            <a:r>
              <a:rPr sz="2250" b="0">
                <a:solidFill>
                  <a:srgbClr val="B7CEDB"/>
                </a:solidFill>
              </a:rPr>
              <a:t>Test accuracy</a:t>
            </a:r>
          </a:p>
        </p:txBody>
      </p:sp>
      <p:sp>
        <p:nvSpPr>
          <p:cNvPr id="7" name="">
            <a:extLst xmlns:a="http://schemas.openxmlformats.org/drawingml/2006/main">
              <a:ext uri="{FF2B5EF4-FFF2-40B4-BE49-F238E27FC236}">
                <a16:creationId xmlns:a16="http://schemas.microsoft.com/office/drawing/2014/main" id="{BDC9AAF4-8C81-4FB4-A7AC-C8686EE21293}"/>
              </a:ext>
            </a:extLst>
          </p:cNvPr>
          <p:cNvSpPr>
            <a:spLocks xmlns:a="http://schemas.openxmlformats.org/drawingml/2006/main" noGrp="1"/>
          </p:cNvSpPr>
          <p:nvPr/>
        </p:nvSpPr>
        <p:spPr>
          <a:xfrm xmlns:a="http://schemas.openxmlformats.org/drawingml/2006/main">
            <a:off x="6762750" y="2047875"/>
            <a:ext cx="4667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600" b="1">
                <a:solidFill>
                  <a:srgbClr val="97D8DC"/>
                </a:solidFill>
              </a:defRPr>
            </a:defPPr>
            <a:lvl1pPr>
              <a:defRPr sz="6600" b="1">
                <a:solidFill>
                  <a:srgbClr val="97D8DC"/>
                </a:solidFill>
              </a:defRPr>
            </a:lvl1pPr>
            <a:lvl2pPr>
              <a:defRPr sz="6600" b="1">
                <a:solidFill>
                  <a:srgbClr val="97D8DC"/>
                </a:solidFill>
              </a:defRPr>
            </a:lvl2pPr>
            <a:lvl3pPr>
              <a:defRPr sz="6600" b="1">
                <a:solidFill>
                  <a:srgbClr val="97D8DC"/>
                </a:solidFill>
              </a:defRPr>
            </a:lvl3pPr>
            <a:lvl4pPr>
              <a:defRPr sz="6600" b="1">
                <a:solidFill>
                  <a:srgbClr val="97D8DC"/>
                </a:solidFill>
              </a:defRPr>
            </a:lvl4pPr>
            <a:lvl5pPr>
              <a:defRPr sz="6600" b="1">
                <a:solidFill>
                  <a:srgbClr val="97D8DC"/>
                </a:solidFill>
              </a:defRPr>
            </a:lvl5pPr>
            <a:lvl6pPr>
              <a:defRPr sz="6600" b="1">
                <a:solidFill>
                  <a:srgbClr val="97D8DC"/>
                </a:solidFill>
              </a:defRPr>
            </a:lvl6pPr>
            <a:lvl7pPr>
              <a:defRPr sz="6600" b="1">
                <a:solidFill>
                  <a:srgbClr val="97D8DC"/>
                </a:solidFill>
              </a:defRPr>
            </a:lvl7pPr>
            <a:lvl8pPr>
              <a:defRPr sz="6600" b="1">
                <a:solidFill>
                  <a:srgbClr val="97D8DC"/>
                </a:solidFill>
              </a:defRPr>
            </a:lvl8pPr>
            <a:lvl9pPr>
              <a:defRPr sz="6600" b="1">
                <a:solidFill>
                  <a:srgbClr val="97D8DC"/>
                </a:solidFill>
              </a:defRPr>
            </a:lvl9pPr>
          </a:lstStyle>
          <a:p xmlns:a="http://schemas.openxmlformats.org/drawingml/2006/main">
            <a:pPr>
              <a:defRPr sz="6600" b="1">
                <a:solidFill>
                  <a:srgbClr val="97D8DC"/>
                </a:solidFill>
              </a:defRPr>
            </a:pPr>
            <a:r>
              <a:rPr sz="6600" b="1">
                <a:solidFill>
                  <a:srgbClr val="97D8DC"/>
                </a:solidFill>
              </a:rPr>
              <a:t>0.9923</a:t>
            </a:r>
          </a:p>
        </p:txBody>
      </p:sp>
      <p:sp>
        <p:nvSpPr>
          <p:cNvPr id="8" name="">
            <a:extLst xmlns:a="http://schemas.openxmlformats.org/drawingml/2006/main">
              <a:ext uri="{FF2B5EF4-FFF2-40B4-BE49-F238E27FC236}">
                <a16:creationId xmlns:a16="http://schemas.microsoft.com/office/drawing/2014/main" id="{A492DCFA-DCC5-41EB-85CC-7E361BB86C61}"/>
              </a:ext>
            </a:extLst>
          </p:cNvPr>
          <p:cNvSpPr>
            <a:spLocks xmlns:a="http://schemas.openxmlformats.org/drawingml/2006/main" noGrp="1"/>
          </p:cNvSpPr>
          <p:nvPr/>
        </p:nvSpPr>
        <p:spPr>
          <a:xfrm xmlns:a="http://schemas.openxmlformats.org/drawingml/2006/main">
            <a:off x="6762750" y="3248025"/>
            <a:ext cx="4667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B7CEDB"/>
                </a:solidFill>
              </a:defRPr>
            </a:defPPr>
            <a:lvl1pPr>
              <a:defRPr sz="2250" b="0">
                <a:solidFill>
                  <a:srgbClr val="B7CEDB"/>
                </a:solidFill>
              </a:defRPr>
            </a:lvl1pPr>
            <a:lvl2pPr>
              <a:defRPr sz="2250" b="0">
                <a:solidFill>
                  <a:srgbClr val="B7CEDB"/>
                </a:solidFill>
              </a:defRPr>
            </a:lvl2pPr>
            <a:lvl3pPr>
              <a:defRPr sz="2250" b="0">
                <a:solidFill>
                  <a:srgbClr val="B7CEDB"/>
                </a:solidFill>
              </a:defRPr>
            </a:lvl3pPr>
            <a:lvl4pPr>
              <a:defRPr sz="2250" b="0">
                <a:solidFill>
                  <a:srgbClr val="B7CEDB"/>
                </a:solidFill>
              </a:defRPr>
            </a:lvl4pPr>
            <a:lvl5pPr>
              <a:defRPr sz="2250" b="0">
                <a:solidFill>
                  <a:srgbClr val="B7CEDB"/>
                </a:solidFill>
              </a:defRPr>
            </a:lvl5pPr>
            <a:lvl6pPr>
              <a:defRPr sz="2250" b="0">
                <a:solidFill>
                  <a:srgbClr val="B7CEDB"/>
                </a:solidFill>
              </a:defRPr>
            </a:lvl6pPr>
            <a:lvl7pPr>
              <a:defRPr sz="2250" b="0">
                <a:solidFill>
                  <a:srgbClr val="B7CEDB"/>
                </a:solidFill>
              </a:defRPr>
            </a:lvl7pPr>
            <a:lvl8pPr>
              <a:defRPr sz="2250" b="0">
                <a:solidFill>
                  <a:srgbClr val="B7CEDB"/>
                </a:solidFill>
              </a:defRPr>
            </a:lvl8pPr>
            <a:lvl9pPr>
              <a:defRPr sz="2250" b="0">
                <a:solidFill>
                  <a:srgbClr val="B7CEDB"/>
                </a:solidFill>
              </a:defRPr>
            </a:lvl9pPr>
          </a:lstStyle>
          <a:p xmlns:a="http://schemas.openxmlformats.org/drawingml/2006/main">
            <a:pPr>
              <a:defRPr sz="2250" b="0">
                <a:solidFill>
                  <a:srgbClr val="B7CEDB"/>
                </a:solidFill>
              </a:defRPr>
            </a:pPr>
            <a:r>
              <a:rPr sz="2250" b="0">
                <a:solidFill>
                  <a:srgbClr val="B7CEDB"/>
                </a:solidFill>
              </a:rPr>
              <a:t>Test macro F1</a:t>
            </a:r>
          </a:p>
        </p:txBody>
      </p:sp>
      <p:sp>
        <p:nvSpPr>
          <p:cNvPr id="9" name="">
            <a:extLst xmlns:a="http://schemas.openxmlformats.org/drawingml/2006/main">
              <a:ext uri="{FF2B5EF4-FFF2-40B4-BE49-F238E27FC236}">
                <a16:creationId xmlns:a16="http://schemas.microsoft.com/office/drawing/2014/main" id="{4AF06078-23C5-4885-9326-7822269A8EFF}"/>
              </a:ext>
            </a:extLst>
          </p:cNvPr>
          <p:cNvSpPr>
            <a:spLocks xmlns:a="http://schemas.openxmlformats.org/drawingml/2006/main" noGrp="1"/>
          </p:cNvSpPr>
          <p:nvPr/>
        </p:nvSpPr>
        <p:spPr>
          <a:xfrm xmlns:a="http://schemas.openxmlformats.org/drawingml/2006/main">
            <a:off x="685800" y="4543425"/>
            <a:ext cx="10668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defRPr>
            </a:defPPr>
            <a:lvl1pPr>
              <a:defRPr sz="2175" b="0">
                <a:solidFill>
                  <a:srgbClr val="FFFFFF"/>
                </a:solidFill>
              </a:defRPr>
            </a:lvl1pPr>
            <a:lvl2pPr>
              <a:defRPr sz="2175" b="0">
                <a:solidFill>
                  <a:srgbClr val="FFFFFF"/>
                </a:solidFill>
              </a:defRPr>
            </a:lvl2pPr>
            <a:lvl3pPr>
              <a:defRPr sz="2175" b="0">
                <a:solidFill>
                  <a:srgbClr val="FFFFFF"/>
                </a:solidFill>
              </a:defRPr>
            </a:lvl3pPr>
            <a:lvl4pPr>
              <a:defRPr sz="2175" b="0">
                <a:solidFill>
                  <a:srgbClr val="FFFFFF"/>
                </a:solidFill>
              </a:defRPr>
            </a:lvl4pPr>
            <a:lvl5pPr>
              <a:defRPr sz="2175" b="0">
                <a:solidFill>
                  <a:srgbClr val="FFFFFF"/>
                </a:solidFill>
              </a:defRPr>
            </a:lvl5pPr>
            <a:lvl6pPr>
              <a:defRPr sz="2175" b="0">
                <a:solidFill>
                  <a:srgbClr val="FFFFFF"/>
                </a:solidFill>
              </a:defRPr>
            </a:lvl6pPr>
            <a:lvl7pPr>
              <a:defRPr sz="2175" b="0">
                <a:solidFill>
                  <a:srgbClr val="FFFFFF"/>
                </a:solidFill>
              </a:defRPr>
            </a:lvl7pPr>
            <a:lvl8pPr>
              <a:defRPr sz="2175" b="0">
                <a:solidFill>
                  <a:srgbClr val="FFFFFF"/>
                </a:solidFill>
              </a:defRPr>
            </a:lvl8pPr>
            <a:lvl9pPr>
              <a:defRPr sz="2175" b="0">
                <a:solidFill>
                  <a:srgbClr val="FFFFFF"/>
                </a:solidFill>
              </a:defRPr>
            </a:lvl9pPr>
          </a:lstStyle>
          <a:p xmlns:a="http://schemas.openxmlformats.org/drawingml/2006/main">
            <a:pPr>
              <a:defRPr sz="2175" b="0">
                <a:solidFill>
                  <a:srgbClr val="FFFFFF"/>
                </a:solidFill>
              </a:defRPr>
            </a:pPr>
            <a:r>
              <a:rPr sz="2175" b="0">
                <a:solidFill>
                  <a:srgbClr val="FFFFFF"/>
                </a:solidFill>
              </a:rPr>
              <a:t>Accuracy interval  99.48% to 99.74%</a:t>
            </a:r>
          </a:p>
          <a:p xmlns:a="http://schemas.openxmlformats.org/drawingml/2006/main">
            <a:pPr>
              <a:defRPr sz="2175" b="0">
                <a:solidFill>
                  <a:srgbClr val="FFFFFF"/>
                </a:solidFill>
              </a:defRPr>
            </a:pPr>
            <a:r>
              <a:rPr sz="2175" b="0">
                <a:solidFill>
                  <a:srgbClr val="FFFFFF"/>
                </a:solidFill>
              </a:rPr>
              <a:t>Macro F1 interval  0.9882 to 0.9955</a:t>
            </a:r>
          </a:p>
        </p:txBody>
      </p:sp>
      <p:sp>
        <p:nvSpPr>
          <p:cNvPr id="10" name="">
            <a:extLst xmlns:a="http://schemas.openxmlformats.org/drawingml/2006/main">
              <a:ext uri="{FF2B5EF4-FFF2-40B4-BE49-F238E27FC236}">
                <a16:creationId xmlns:a16="http://schemas.microsoft.com/office/drawing/2014/main" id="{5E8FEA60-C854-4ED4-BCDB-D8C94BD12CBA}"/>
              </a:ext>
            </a:extLst>
          </p:cNvPr>
          <p:cNvSpPr>
            <a:spLocks xmlns:a="http://schemas.openxmlformats.org/drawingml/2006/main" noGrp="1"/>
          </p:cNvSpPr>
          <p:nvPr/>
        </p:nvSpPr>
        <p:spPr>
          <a:xfrm xmlns:a="http://schemas.openxmlformats.org/drawingml/2006/main">
            <a:off x="685800" y="5705475"/>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650" b="0">
                <a:solidFill>
                  <a:srgbClr val="B7CEDB"/>
                </a:solidFill>
              </a:defRPr>
            </a:defPPr>
            <a:lvl1pPr>
              <a:defRPr sz="1650" b="0">
                <a:solidFill>
                  <a:srgbClr val="B7CEDB"/>
                </a:solidFill>
              </a:defRPr>
            </a:lvl1pPr>
            <a:lvl2pPr>
              <a:defRPr sz="1650" b="0">
                <a:solidFill>
                  <a:srgbClr val="B7CEDB"/>
                </a:solidFill>
              </a:defRPr>
            </a:lvl2pPr>
            <a:lvl3pPr>
              <a:defRPr sz="1650" b="0">
                <a:solidFill>
                  <a:srgbClr val="B7CEDB"/>
                </a:solidFill>
              </a:defRPr>
            </a:lvl3pPr>
            <a:lvl4pPr>
              <a:defRPr sz="1650" b="0">
                <a:solidFill>
                  <a:srgbClr val="B7CEDB"/>
                </a:solidFill>
              </a:defRPr>
            </a:lvl4pPr>
            <a:lvl5pPr>
              <a:defRPr sz="1650" b="0">
                <a:solidFill>
                  <a:srgbClr val="B7CEDB"/>
                </a:solidFill>
              </a:defRPr>
            </a:lvl5pPr>
            <a:lvl6pPr>
              <a:defRPr sz="1650" b="0">
                <a:solidFill>
                  <a:srgbClr val="B7CEDB"/>
                </a:solidFill>
              </a:defRPr>
            </a:lvl6pPr>
            <a:lvl7pPr>
              <a:defRPr sz="1650" b="0">
                <a:solidFill>
                  <a:srgbClr val="B7CEDB"/>
                </a:solidFill>
              </a:defRPr>
            </a:lvl7pPr>
            <a:lvl8pPr>
              <a:defRPr sz="1650" b="0">
                <a:solidFill>
                  <a:srgbClr val="B7CEDB"/>
                </a:solidFill>
              </a:defRPr>
            </a:lvl8pPr>
            <a:lvl9pPr>
              <a:defRPr sz="1650" b="0">
                <a:solidFill>
                  <a:srgbClr val="B7CEDB"/>
                </a:solidFill>
              </a:defRPr>
            </a:lvl9pPr>
          </a:lstStyle>
          <a:p xmlns:a="http://schemas.openxmlformats.org/drawingml/2006/main">
            <a:pPr>
              <a:defRPr sz="1650" b="0">
                <a:solidFill>
                  <a:srgbClr val="B7CEDB"/>
                </a:solidFill>
              </a:defRPr>
            </a:pPr>
            <a:r>
              <a:rPr sz="1650" b="0">
                <a:solidFill>
                  <a:srgbClr val="B7CEDB"/>
                </a:solidFill>
              </a:rPr>
              <a:t>95% stratified bootstrap intervals on 8,811 test flows</a:t>
            </a:r>
          </a:p>
        </p:txBody>
      </p:sp>
    </p:spTree>
    <p:extLst>
      <p:ext uri="{BB962C8B-B14F-4D97-AF65-F5344CB8AC3E}">
        <p14:creationId xmlns:p14="http://schemas.microsoft.com/office/powerpoint/2010/main" val="839537725"/>
      </p:ext>
    </p:extLst>
  </p:cSld>
</p:sld>
</file>

<file path=ppt/slides/slide11.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2DC6C1-F129-40C9-8884-EF1E84F29135}"/>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A72B485F-3BBB-4BB4-9849-88A8C3703DC6}"/>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Per class metrics reveal uneven evidence</a:t>
            </a:r>
          </a:p>
        </p:txBody>
      </p:sp>
      <p:sp>
        <p:nvSpPr>
          <p:cNvPr id="3" name="">
            <a:extLst xmlns:a="http://schemas.openxmlformats.org/drawingml/2006/main">
              <a:ext uri="{FF2B5EF4-FFF2-40B4-BE49-F238E27FC236}">
                <a16:creationId xmlns:a16="http://schemas.microsoft.com/office/drawing/2014/main" id="{56DEB06E-A3DC-4C0E-804C-A1A5D4D2ECF7}"/>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1E399CA7-3924-4B3B-B2AA-6BF669F1FDF2}"/>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11</a:t>
            </a:r>
          </a:p>
        </p:txBody>
      </p:sp>
      <p:graphicFrame>
        <p:nvGraphicFramePr>
          <p:cNvPr id="5" name="">
            <a:extLst xmlns:a="http://schemas.openxmlformats.org/drawingml/2006/main">
              <a:ext uri="{FF2B5EF4-FFF2-40B4-BE49-F238E27FC236}">
                <a16:creationId xmlns:a16="http://schemas.microsoft.com/office/drawing/2014/main" id="{3D2C7ACE-4731-4125-9A16-E23563D01447}"/>
              </a:ext>
            </a:extLst>
          </p:cNvPr>
          <p:cNvGraphicFramePr/>
          <p:nvPr/>
        </p:nvGraphicFramePr>
        <p:xfrm>
          <a:off xmlns:a="http://schemas.openxmlformats.org/drawingml/2006/main" x="685800" y="1866900"/>
          <a:ext xmlns:a="http://schemas.openxmlformats.org/drawingml/2006/main" cx="10820400" cy="3924300"/>
        </p:xfrm>
        <a:graphic xmlns:a="http://schemas.openxmlformats.org/drawingml/2006/main">
          <a:graphicData uri="http://schemas.openxmlformats.org/drawingml/2006/table">
            <a:tbl>
              <a:tblPr/>
              <a:tblGrid>
                <a:gridCol w="2857500"/>
                <a:gridCol w="2000250"/>
                <a:gridCol w="2000250"/>
                <a:gridCol w="2000250"/>
                <a:gridCol w="1962150"/>
              </a:tblGrid>
              <a:tr h="490538">
                <a:tc>
                  <a:txBody>
                    <a:bodyPr/>
                    <a:lstStyle/>
                    <a:p>
                      <a:r>
                        <a:rPr sz="1800" b="1">
                          <a:solidFill>
                            <a:srgbClr val="FFFFFF"/>
                          </a:solidFill>
                        </a:rPr>
                        <a:t>Label</a:t>
                      </a:r>
                    </a:p>
                  </a:txBody>
                  <a:tcPr marL="114300" marR="114300" marT="57150" marB="57150" anchor="ctr">
                    <a:lnL w="9525">
                      <a:solidFill>
                        <a:srgbClr val="D9E2EA"/>
                      </a:solidFill>
                      <a:prstDash val="solid"/>
                    </a:lnL>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800" b="1">
                          <a:solidFill>
                            <a:srgbClr val="FFFFFF"/>
                          </a:solidFill>
                        </a:rPr>
                        <a:t>Precision</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800" b="1">
                          <a:solidFill>
                            <a:srgbClr val="FFFFFF"/>
                          </a:solidFill>
                        </a:rPr>
                        <a:t>Recall</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800" b="1">
                          <a:solidFill>
                            <a:srgbClr val="FFFFFF"/>
                          </a:solidFill>
                        </a:rPr>
                        <a:t>F1</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800" b="1">
                          <a:solidFill>
                            <a:srgbClr val="FFFFFF"/>
                          </a:solidFill>
                        </a:rPr>
                        <a:t>Support</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r>
              <a:tr h="490538">
                <a:tc>
                  <a:txBody>
                    <a:bodyPr/>
                    <a:lstStyle/>
                    <a:p>
                      <a:r>
                        <a:rPr sz="1800">
                          <a:solidFill>
                            <a:srgbClr val="132F46"/>
                          </a:solidFill>
                        </a:rPr>
                        <a:t>BENIGN</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0.9979</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0.9949</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0.9964</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4338</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0538">
                <a:tc>
                  <a:txBody>
                    <a:bodyPr/>
                    <a:lstStyle/>
                    <a:p>
                      <a:r>
                        <a:rPr sz="1800">
                          <a:solidFill>
                            <a:srgbClr val="132F46"/>
                          </a:solidFill>
                        </a:rPr>
                        <a:t>Bot</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0.9662</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0.9931</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0.9795</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288</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0538">
                <a:tc>
                  <a:txBody>
                    <a:bodyPr/>
                    <a:lstStyle/>
                    <a:p>
                      <a:r>
                        <a:rPr sz="1800">
                          <a:solidFill>
                            <a:srgbClr val="132F46"/>
                          </a:solidFill>
                        </a:rPr>
                        <a:t>BruteForce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0.9975</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0.9950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0.9962</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398</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0538">
                <a:tc>
                  <a:txBody>
                    <a:bodyPr/>
                    <a:lstStyle/>
                    <a:p>
                      <a:r>
                        <a:rPr sz="1800">
                          <a:solidFill>
                            <a:srgbClr val="132F46"/>
                          </a:solidFill>
                        </a:rPr>
                        <a:t>DoS</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0.9967</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0.9994</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0.9980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3286</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0538">
                <a:tc>
                  <a:txBody>
                    <a:bodyPr/>
                    <a:lstStyle/>
                    <a:p>
                      <a:r>
                        <a:rPr sz="1800">
                          <a:solidFill>
                            <a:srgbClr val="132F46"/>
                          </a:solidFill>
                        </a:rPr>
                        <a:t>Infiltration</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1.0000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1.0000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1.0000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7</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0538">
                <a:tc>
                  <a:txBody>
                    <a:bodyPr/>
                    <a:lstStyle/>
                    <a:p>
                      <a:r>
                        <a:rPr sz="1800">
                          <a:solidFill>
                            <a:srgbClr val="132F46"/>
                          </a:solidFill>
                        </a:rPr>
                        <a:t>PortScan</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1.0000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0.9692</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0.9844</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800">
                          <a:solidFill>
                            <a:srgbClr val="132F46"/>
                          </a:solidFill>
                        </a:rPr>
                        <a:t>65</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0538">
                <a:tc>
                  <a:txBody>
                    <a:bodyPr/>
                    <a:lstStyle/>
                    <a:p>
                      <a:r>
                        <a:rPr sz="1800">
                          <a:solidFill>
                            <a:srgbClr val="132F46"/>
                          </a:solidFill>
                        </a:rPr>
                        <a:t>WebAttack</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0.9930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0.9907</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0.9918</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800">
                          <a:solidFill>
                            <a:srgbClr val="132F46"/>
                          </a:solidFill>
                        </a:rPr>
                        <a:t>429</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bl>
          </a:graphicData>
        </a:graphic>
      </p:graphicFrame>
      <p:sp>
        <p:nvSpPr>
          <p:cNvPr id="6" name="">
            <a:extLst xmlns:a="http://schemas.openxmlformats.org/drawingml/2006/main">
              <a:ext uri="{FF2B5EF4-FFF2-40B4-BE49-F238E27FC236}">
                <a16:creationId xmlns:a16="http://schemas.microsoft.com/office/drawing/2014/main" id="{0F51BA09-364F-468B-9EC0-4BD37B84530F}"/>
              </a:ext>
            </a:extLst>
          </p:cNvPr>
          <p:cNvSpPr>
            <a:spLocks xmlns:a="http://schemas.openxmlformats.org/drawingml/2006/main" noGrp="1"/>
          </p:cNvSpPr>
          <p:nvPr/>
        </p:nvSpPr>
        <p:spPr>
          <a:xfrm xmlns:a="http://schemas.openxmlformats.org/drawingml/2006/main">
            <a:off x="685800" y="5981700"/>
            <a:ext cx="10763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0">
                <a:solidFill>
                  <a:srgbClr val="586B7B"/>
                </a:solidFill>
              </a:defRPr>
            </a:defPPr>
            <a:lvl1pPr>
              <a:defRPr sz="1725" b="0">
                <a:solidFill>
                  <a:srgbClr val="586B7B"/>
                </a:solidFill>
              </a:defRPr>
            </a:lvl1pPr>
            <a:lvl2pPr>
              <a:defRPr sz="1725" b="0">
                <a:solidFill>
                  <a:srgbClr val="586B7B"/>
                </a:solidFill>
              </a:defRPr>
            </a:lvl2pPr>
            <a:lvl3pPr>
              <a:defRPr sz="1725" b="0">
                <a:solidFill>
                  <a:srgbClr val="586B7B"/>
                </a:solidFill>
              </a:defRPr>
            </a:lvl3pPr>
            <a:lvl4pPr>
              <a:defRPr sz="1725" b="0">
                <a:solidFill>
                  <a:srgbClr val="586B7B"/>
                </a:solidFill>
              </a:defRPr>
            </a:lvl4pPr>
            <a:lvl5pPr>
              <a:defRPr sz="1725" b="0">
                <a:solidFill>
                  <a:srgbClr val="586B7B"/>
                </a:solidFill>
              </a:defRPr>
            </a:lvl5pPr>
            <a:lvl6pPr>
              <a:defRPr sz="1725" b="0">
                <a:solidFill>
                  <a:srgbClr val="586B7B"/>
                </a:solidFill>
              </a:defRPr>
            </a:lvl6pPr>
            <a:lvl7pPr>
              <a:defRPr sz="1725" b="0">
                <a:solidFill>
                  <a:srgbClr val="586B7B"/>
                </a:solidFill>
              </a:defRPr>
            </a:lvl7pPr>
            <a:lvl8pPr>
              <a:defRPr sz="1725" b="0">
                <a:solidFill>
                  <a:srgbClr val="586B7B"/>
                </a:solidFill>
              </a:defRPr>
            </a:lvl8pPr>
            <a:lvl9pPr>
              <a:defRPr sz="1725" b="0">
                <a:solidFill>
                  <a:srgbClr val="586B7B"/>
                </a:solidFill>
              </a:defRPr>
            </a:lvl9pPr>
          </a:lstStyle>
          <a:p xmlns:a="http://schemas.openxmlformats.org/drawingml/2006/main">
            <a:pPr>
              <a:defRPr sz="1725" b="0">
                <a:solidFill>
                  <a:srgbClr val="586B7B"/>
                </a:solidFill>
              </a:defRPr>
            </a:pPr>
            <a:r>
              <a:rPr sz="1725" b="0">
                <a:solidFill>
                  <a:srgbClr val="586B7B"/>
                </a:solidFill>
              </a:rPr>
              <a:t>Infiltration has only 7 test examples. Its perfect score needs caution.</a:t>
            </a:r>
          </a:p>
        </p:txBody>
      </p:sp>
    </p:spTree>
    <p:extLst>
      <p:ext uri="{BB962C8B-B14F-4D97-AF65-F5344CB8AC3E}">
        <p14:creationId xmlns:p14="http://schemas.microsoft.com/office/powerpoint/2010/main" val="737517456"/>
      </p:ext>
    </p:extLst>
  </p:cSld>
</p:sld>
</file>

<file path=ppt/slides/slide12.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8004C23-4F21-48C5-B5AF-8B7C4A0EC51E}"/>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5CAE75E4-3A22-4E83-BEAE-D71255291CD2}"/>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The confusion matrix identifies specific errors</a:t>
            </a:r>
          </a:p>
        </p:txBody>
      </p:sp>
      <p:sp>
        <p:nvSpPr>
          <p:cNvPr id="3" name="">
            <a:extLst xmlns:a="http://schemas.openxmlformats.org/drawingml/2006/main">
              <a:ext uri="{FF2B5EF4-FFF2-40B4-BE49-F238E27FC236}">
                <a16:creationId xmlns:a16="http://schemas.microsoft.com/office/drawing/2014/main" id="{4EE26B11-E3BA-437A-A277-74BCB5CDB4C8}"/>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137108C0-E8D1-448D-8AFE-AC95EC922913}"/>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12</a:t>
            </a:r>
          </a:p>
        </p:txBody>
      </p:sp>
      <p:graphicFrame>
        <p:nvGraphicFramePr>
          <p:cNvPr id="5" name="">
            <a:extLst xmlns:a="http://schemas.openxmlformats.org/drawingml/2006/main">
              <a:ext uri="{FF2B5EF4-FFF2-40B4-BE49-F238E27FC236}">
                <a16:creationId xmlns:a16="http://schemas.microsoft.com/office/drawing/2014/main" id="{CCC3AF8A-6D88-4396-AFB9-695B21594DBF}"/>
              </a:ext>
            </a:extLst>
          </p:cNvPr>
          <p:cNvGraphicFramePr/>
          <p:nvPr/>
        </p:nvGraphicFramePr>
        <p:xfrm>
          <a:off xmlns:a="http://schemas.openxmlformats.org/drawingml/2006/main" x="685800" y="1866900"/>
          <a:ext xmlns:a="http://schemas.openxmlformats.org/drawingml/2006/main" cx="10820400" cy="3952875"/>
        </p:xfrm>
        <a:graphic xmlns:a="http://schemas.openxmlformats.org/drawingml/2006/main">
          <a:graphicData uri="http://schemas.openxmlformats.org/drawingml/2006/table">
            <a:tbl>
              <a:tblPr/>
              <a:tblGrid>
                <a:gridCol w="1952625"/>
                <a:gridCol w="1266825"/>
                <a:gridCol w="1266825"/>
                <a:gridCol w="1266825"/>
                <a:gridCol w="1266825"/>
                <a:gridCol w="1266825"/>
                <a:gridCol w="1266825"/>
                <a:gridCol w="1266825"/>
              </a:tblGrid>
              <a:tr h="494109">
                <a:tc>
                  <a:txBody>
                    <a:bodyPr/>
                    <a:lstStyle/>
                    <a:p>
                      <a:r>
                        <a:rPr sz="1725" b="1">
                          <a:solidFill>
                            <a:srgbClr val="FFFFFF"/>
                          </a:solidFill>
                        </a:rPr>
                        <a:t>Actual / Pred.</a:t>
                      </a:r>
                    </a:p>
                  </a:txBody>
                  <a:tcPr marL="114300" marR="114300" marT="57150" marB="57150" anchor="ctr">
                    <a:lnL w="9525">
                      <a:solidFill>
                        <a:srgbClr val="D9E2EA"/>
                      </a:solidFill>
                      <a:prstDash val="solid"/>
                    </a:lnL>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Benign</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Bot</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Brute</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DoS</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Infil</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Port</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1725" b="1">
                          <a:solidFill>
                            <a:srgbClr val="FFFFFF"/>
                          </a:solidFill>
                        </a:rPr>
                        <a:t>Web</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r>
              <a:tr h="494109">
                <a:tc>
                  <a:txBody>
                    <a:bodyPr/>
                    <a:lstStyle/>
                    <a:p>
                      <a:r>
                        <a:rPr sz="1725">
                          <a:solidFill>
                            <a:srgbClr val="132F46"/>
                          </a:solidFill>
                        </a:rPr>
                        <a:t>Benign</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4316</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10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1</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8</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3</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4109">
                <a:tc>
                  <a:txBody>
                    <a:bodyPr/>
                    <a:lstStyle/>
                    <a:p>
                      <a:r>
                        <a:rPr sz="1725">
                          <a:solidFill>
                            <a:srgbClr val="132F46"/>
                          </a:solidFill>
                        </a:rPr>
                        <a:t>Bot</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2</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286</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4109">
                <a:tc>
                  <a:txBody>
                    <a:bodyPr/>
                    <a:lstStyle/>
                    <a:p>
                      <a:r>
                        <a:rPr sz="1725">
                          <a:solidFill>
                            <a:srgbClr val="132F46"/>
                          </a:solidFill>
                        </a:rPr>
                        <a:t>Brute</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2</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396</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4109">
                <a:tc>
                  <a:txBody>
                    <a:bodyPr/>
                    <a:lstStyle/>
                    <a:p>
                      <a:r>
                        <a:rPr sz="1725">
                          <a:solidFill>
                            <a:srgbClr val="132F46"/>
                          </a:solidFill>
                        </a:rPr>
                        <a:t>DoS</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2</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3284</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4109">
                <a:tc>
                  <a:txBody>
                    <a:bodyPr/>
                    <a:lstStyle/>
                    <a:p>
                      <a:r>
                        <a:rPr sz="1725">
                          <a:solidFill>
                            <a:srgbClr val="132F46"/>
                          </a:solidFill>
                        </a:rPr>
                        <a:t>Infil</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7</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494109">
                <a:tc>
                  <a:txBody>
                    <a:bodyPr/>
                    <a:lstStyle/>
                    <a:p>
                      <a:r>
                        <a:rPr sz="1725">
                          <a:solidFill>
                            <a:srgbClr val="132F46"/>
                          </a:solidFill>
                        </a:rPr>
                        <a:t>Port</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1</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1</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63</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r h="494109">
                <a:tc>
                  <a:txBody>
                    <a:bodyPr/>
                    <a:lstStyle/>
                    <a:p>
                      <a:r>
                        <a:rPr sz="1725">
                          <a:solidFill>
                            <a:srgbClr val="132F46"/>
                          </a:solidFill>
                        </a:rPr>
                        <a:t>Web</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2</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2</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0</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1725">
                          <a:solidFill>
                            <a:srgbClr val="132F46"/>
                          </a:solidFill>
                        </a:rPr>
                        <a:t>425</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bl>
          </a:graphicData>
        </a:graphic>
      </p:graphicFrame>
      <p:sp>
        <p:nvSpPr>
          <p:cNvPr id="6" name="">
            <a:extLst xmlns:a="http://schemas.openxmlformats.org/drawingml/2006/main">
              <a:ext uri="{FF2B5EF4-FFF2-40B4-BE49-F238E27FC236}">
                <a16:creationId xmlns:a16="http://schemas.microsoft.com/office/drawing/2014/main" id="{7303129B-2D8D-4FE1-BA28-481551707AC7}"/>
              </a:ext>
            </a:extLst>
          </p:cNvPr>
          <p:cNvSpPr>
            <a:spLocks xmlns:a="http://schemas.openxmlformats.org/drawingml/2006/main" noGrp="1"/>
          </p:cNvSpPr>
          <p:nvPr/>
        </p:nvSpPr>
        <p:spPr>
          <a:xfrm xmlns:a="http://schemas.openxmlformats.org/drawingml/2006/main">
            <a:off x="685800" y="5991225"/>
            <a:ext cx="10477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86B7B"/>
                </a:solidFill>
              </a:defRPr>
            </a:defPPr>
            <a:lvl1pPr>
              <a:defRPr sz="1800" b="0">
                <a:solidFill>
                  <a:srgbClr val="586B7B"/>
                </a:solidFill>
              </a:defRPr>
            </a:lvl1pPr>
            <a:lvl2pPr>
              <a:defRPr sz="1800" b="0">
                <a:solidFill>
                  <a:srgbClr val="586B7B"/>
                </a:solidFill>
              </a:defRPr>
            </a:lvl2pPr>
            <a:lvl3pPr>
              <a:defRPr sz="1800" b="0">
                <a:solidFill>
                  <a:srgbClr val="586B7B"/>
                </a:solidFill>
              </a:defRPr>
            </a:lvl3pPr>
            <a:lvl4pPr>
              <a:defRPr sz="1800" b="0">
                <a:solidFill>
                  <a:srgbClr val="586B7B"/>
                </a:solidFill>
              </a:defRPr>
            </a:lvl4pPr>
            <a:lvl5pPr>
              <a:defRPr sz="1800" b="0">
                <a:solidFill>
                  <a:srgbClr val="586B7B"/>
                </a:solidFill>
              </a:defRPr>
            </a:lvl5pPr>
            <a:lvl6pPr>
              <a:defRPr sz="1800" b="0">
                <a:solidFill>
                  <a:srgbClr val="586B7B"/>
                </a:solidFill>
              </a:defRPr>
            </a:lvl6pPr>
            <a:lvl7pPr>
              <a:defRPr sz="1800" b="0">
                <a:solidFill>
                  <a:srgbClr val="586B7B"/>
                </a:solidFill>
              </a:defRPr>
            </a:lvl7pPr>
            <a:lvl8pPr>
              <a:defRPr sz="1800" b="0">
                <a:solidFill>
                  <a:srgbClr val="586B7B"/>
                </a:solidFill>
              </a:defRPr>
            </a:lvl8pPr>
            <a:lvl9pPr>
              <a:defRPr sz="1800" b="0">
                <a:solidFill>
                  <a:srgbClr val="586B7B"/>
                </a:solidFill>
              </a:defRPr>
            </a:lvl9pPr>
          </a:lstStyle>
          <a:p xmlns:a="http://schemas.openxmlformats.org/drawingml/2006/main">
            <a:pPr>
              <a:defRPr sz="1800" b="0">
                <a:solidFill>
                  <a:srgbClr val="586B7B"/>
                </a:solidFill>
              </a:defRPr>
            </a:pPr>
            <a:r>
              <a:rPr sz="1800" b="0">
                <a:solidFill>
                  <a:srgbClr val="586B7B"/>
                </a:solidFill>
              </a:rPr>
              <a:t>Rows = actual traffic     Columns = predicted traffic</a:t>
            </a:r>
          </a:p>
        </p:txBody>
      </p:sp>
    </p:spTree>
    <p:extLst>
      <p:ext uri="{BB962C8B-B14F-4D97-AF65-F5344CB8AC3E}">
        <p14:creationId xmlns:p14="http://schemas.microsoft.com/office/powerpoint/2010/main" val="1176681151"/>
      </p:ext>
    </p:extLst>
  </p:cSld>
</p:sld>
</file>

<file path=ppt/slides/slide13.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E99C5D7-8029-49C1-B3DF-E8C10A48E561}"/>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5CE8F9FC-885B-4CF2-85B5-4E8F70A778CF}"/>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Nine attack flows are predicted as benign</a:t>
            </a:r>
          </a:p>
        </p:txBody>
      </p:sp>
      <p:sp>
        <p:nvSpPr>
          <p:cNvPr id="3" name="">
            <a:extLst xmlns:a="http://schemas.openxmlformats.org/drawingml/2006/main">
              <a:ext uri="{FF2B5EF4-FFF2-40B4-BE49-F238E27FC236}">
                <a16:creationId xmlns:a16="http://schemas.microsoft.com/office/drawing/2014/main" id="{0FF5177C-0009-4615-AB25-A41614B8BEF5}"/>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F3E035D0-D32B-41E7-8714-D049C297F203}"/>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13</a:t>
            </a:r>
          </a:p>
        </p:txBody>
      </p:sp>
      <p:graphicFrame>
        <p:nvGraphicFramePr>
          <p:cNvPr id="5" name="">
            <a:extLst xmlns:a="http://schemas.openxmlformats.org/drawingml/2006/main">
              <a:ext uri="{FF2B5EF4-FFF2-40B4-BE49-F238E27FC236}">
                <a16:creationId xmlns:a16="http://schemas.microsoft.com/office/drawing/2014/main" id="{8E9F008B-ED86-4C24-8D33-5BEEA15A290C}"/>
              </a:ext>
            </a:extLst>
          </p:cNvPr>
          <p:cNvGraphicFramePr/>
          <p:nvPr/>
        </p:nvGraphicFramePr>
        <p:xfrm>
          <a:off xmlns:a="http://schemas.openxmlformats.org/drawingml/2006/main" x="685800" y="1866900"/>
          <a:ext xmlns:a="http://schemas.openxmlformats.org/drawingml/2006/main" cx="10820400" cy="1952625"/>
        </p:xfrm>
        <a:graphic xmlns:a="http://schemas.openxmlformats.org/drawingml/2006/main">
          <a:graphicData uri="http://schemas.openxmlformats.org/drawingml/2006/table">
            <a:tbl>
              <a:tblPr/>
              <a:tblGrid>
                <a:gridCol w="3810000"/>
                <a:gridCol w="3505200"/>
                <a:gridCol w="3505200"/>
              </a:tblGrid>
              <a:tr h="650875">
                <a:tc>
                  <a:txBody>
                    <a:bodyPr/>
                    <a:lstStyle/>
                    <a:p>
                      <a:r>
                        <a:rPr sz="2175" b="1">
                          <a:solidFill>
                            <a:srgbClr val="FFFFFF"/>
                          </a:solidFill>
                        </a:rPr>
                        <a:t>Actual traffic</a:t>
                      </a:r>
                    </a:p>
                  </a:txBody>
                  <a:tcPr marL="114300" marR="114300" marT="57150" marB="57150" anchor="ctr">
                    <a:lnL w="9525">
                      <a:solidFill>
                        <a:srgbClr val="D9E2EA"/>
                      </a:solidFill>
                      <a:prstDash val="solid"/>
                    </a:lnL>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2175" b="1">
                          <a:solidFill>
                            <a:srgbClr val="FFFFFF"/>
                          </a:solidFill>
                        </a:rPr>
                        <a:t>Predicted normal</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c>
                  <a:txBody>
                    <a:bodyPr/>
                    <a:lstStyle/>
                    <a:p>
                      <a:r>
                        <a:rPr sz="2175" b="1">
                          <a:solidFill>
                            <a:srgbClr val="FFFFFF"/>
                          </a:solidFill>
                        </a:rPr>
                        <a:t>Predicted attack</a:t>
                      </a:r>
                    </a:p>
                  </a:txBody>
                  <a:tcPr marL="114300" marR="114300" marT="57150" marB="57150" anchor="ctr">
                    <a:lnR w="9525">
                      <a:solidFill>
                        <a:srgbClr val="D9E2EA"/>
                      </a:solidFill>
                      <a:prstDash val="solid"/>
                    </a:lnR>
                    <a:lnT w="9525">
                      <a:solidFill>
                        <a:srgbClr val="D9E2EA"/>
                      </a:solidFill>
                      <a:prstDash val="solid"/>
                    </a:lnT>
                    <a:lnB w="9525">
                      <a:solidFill>
                        <a:srgbClr val="D9E2EA"/>
                      </a:solidFill>
                      <a:prstDash val="solid"/>
                    </a:lnB>
                    <a:solidFill>
                      <a:srgbClr val="132F46"/>
                    </a:solidFill>
                  </a:tcPr>
                </a:tc>
              </a:tr>
              <a:tr h="650875">
                <a:tc>
                  <a:txBody>
                    <a:bodyPr/>
                    <a:lstStyle/>
                    <a:p>
                      <a:r>
                        <a:rPr sz="2175">
                          <a:solidFill>
                            <a:srgbClr val="132F46"/>
                          </a:solidFill>
                        </a:rPr>
                        <a:t>Normal</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EAF2F5"/>
                    </a:solidFill>
                  </a:tcPr>
                </a:tc>
                <a:tc>
                  <a:txBody>
                    <a:bodyPr/>
                    <a:lstStyle/>
                    <a:p>
                      <a:r>
                        <a:rPr sz="2175">
                          <a:solidFill>
                            <a:srgbClr val="132F46"/>
                          </a:solidFill>
                        </a:rPr>
                        <a:t>4316</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c>
                  <a:txBody>
                    <a:bodyPr/>
                    <a:lstStyle/>
                    <a:p>
                      <a:r>
                        <a:rPr sz="2175">
                          <a:solidFill>
                            <a:srgbClr val="132F46"/>
                          </a:solidFill>
                        </a:rPr>
                        <a:t>22</a:t>
                      </a:r>
                    </a:p>
                  </a:txBody>
                  <a:tcPr marL="114300" marR="114300" marT="57150" marB="57150" anchor="ctr">
                    <a:lnR w="9525">
                      <a:solidFill>
                        <a:srgbClr val="D9E2EA"/>
                      </a:solidFill>
                      <a:prstDash val="solid"/>
                    </a:lnR>
                    <a:lnB w="9525">
                      <a:solidFill>
                        <a:srgbClr val="D9E2EA"/>
                      </a:solidFill>
                      <a:prstDash val="solid"/>
                    </a:lnB>
                    <a:solidFill>
                      <a:srgbClr val="EAF2F5"/>
                    </a:solidFill>
                  </a:tcPr>
                </a:tc>
              </a:tr>
              <a:tr h="650875">
                <a:tc>
                  <a:txBody>
                    <a:bodyPr/>
                    <a:lstStyle/>
                    <a:p>
                      <a:r>
                        <a:rPr sz="2175">
                          <a:solidFill>
                            <a:srgbClr val="132F46"/>
                          </a:solidFill>
                        </a:rPr>
                        <a:t>Attack</a:t>
                      </a:r>
                    </a:p>
                  </a:txBody>
                  <a:tcPr marL="114300" marR="114300" marT="57150" marB="57150" anchor="ctr">
                    <a:lnL w="9525">
                      <a:solidFill>
                        <a:srgbClr val="D9E2EA"/>
                      </a:solidFill>
                      <a:prstDash val="solid"/>
                    </a:lnL>
                    <a:lnR w="9525">
                      <a:solidFill>
                        <a:srgbClr val="D9E2EA"/>
                      </a:solidFill>
                      <a:prstDash val="solid"/>
                    </a:lnR>
                    <a:lnB w="9525">
                      <a:solidFill>
                        <a:srgbClr val="D9E2EA"/>
                      </a:solidFill>
                      <a:prstDash val="solid"/>
                    </a:lnB>
                    <a:solidFill>
                      <a:srgbClr val="FFFFFF"/>
                    </a:solidFill>
                  </a:tcPr>
                </a:tc>
                <a:tc>
                  <a:txBody>
                    <a:bodyPr/>
                    <a:lstStyle/>
                    <a:p>
                      <a:r>
                        <a:rPr sz="2175">
                          <a:solidFill>
                            <a:srgbClr val="132F46"/>
                          </a:solidFill>
                        </a:rPr>
                        <a:t>9</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c>
                  <a:txBody>
                    <a:bodyPr/>
                    <a:lstStyle/>
                    <a:p>
                      <a:r>
                        <a:rPr sz="2175">
                          <a:solidFill>
                            <a:srgbClr val="132F46"/>
                          </a:solidFill>
                        </a:rPr>
                        <a:t>4464</a:t>
                      </a:r>
                    </a:p>
                  </a:txBody>
                  <a:tcPr marL="114300" marR="114300" marT="57150" marB="57150" anchor="ctr">
                    <a:lnR w="9525">
                      <a:solidFill>
                        <a:srgbClr val="D9E2EA"/>
                      </a:solidFill>
                      <a:prstDash val="solid"/>
                    </a:lnR>
                    <a:lnB w="9525">
                      <a:solidFill>
                        <a:srgbClr val="D9E2EA"/>
                      </a:solidFill>
                      <a:prstDash val="solid"/>
                    </a:lnB>
                    <a:solidFill>
                      <a:srgbClr val="FFFFFF"/>
                    </a:solidFill>
                  </a:tcPr>
                </a:tc>
              </a:tr>
            </a:tbl>
          </a:graphicData>
        </a:graphic>
      </p:graphicFrame>
      <p:sp>
        <p:nvSpPr>
          <p:cNvPr id="6" name="">
            <a:extLst xmlns:a="http://schemas.openxmlformats.org/drawingml/2006/main">
              <a:ext uri="{FF2B5EF4-FFF2-40B4-BE49-F238E27FC236}">
                <a16:creationId xmlns:a16="http://schemas.microsoft.com/office/drawing/2014/main" id="{C88824EE-90A3-4FF9-8BC9-FDF53DE5F7CD}"/>
              </a:ext>
            </a:extLst>
          </p:cNvPr>
          <p:cNvSpPr>
            <a:spLocks xmlns:a="http://schemas.openxmlformats.org/drawingml/2006/main" noGrp="1"/>
          </p:cNvSpPr>
          <p:nvPr/>
        </p:nvSpPr>
        <p:spPr>
          <a:xfrm xmlns:a="http://schemas.openxmlformats.org/drawingml/2006/main">
            <a:off x="685800" y="4343400"/>
            <a:ext cx="5048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087E8B"/>
                </a:solidFill>
              </a:defRPr>
            </a:defPPr>
            <a:lvl1pPr>
              <a:defRPr sz="4500" b="1">
                <a:solidFill>
                  <a:srgbClr val="087E8B"/>
                </a:solidFill>
              </a:defRPr>
            </a:lvl1pPr>
            <a:lvl2pPr>
              <a:defRPr sz="4500" b="1">
                <a:solidFill>
                  <a:srgbClr val="087E8B"/>
                </a:solidFill>
              </a:defRPr>
            </a:lvl2pPr>
            <a:lvl3pPr>
              <a:defRPr sz="4500" b="1">
                <a:solidFill>
                  <a:srgbClr val="087E8B"/>
                </a:solidFill>
              </a:defRPr>
            </a:lvl3pPr>
            <a:lvl4pPr>
              <a:defRPr sz="4500" b="1">
                <a:solidFill>
                  <a:srgbClr val="087E8B"/>
                </a:solidFill>
              </a:defRPr>
            </a:lvl4pPr>
            <a:lvl5pPr>
              <a:defRPr sz="4500" b="1">
                <a:solidFill>
                  <a:srgbClr val="087E8B"/>
                </a:solidFill>
              </a:defRPr>
            </a:lvl5pPr>
            <a:lvl6pPr>
              <a:defRPr sz="4500" b="1">
                <a:solidFill>
                  <a:srgbClr val="087E8B"/>
                </a:solidFill>
              </a:defRPr>
            </a:lvl6pPr>
            <a:lvl7pPr>
              <a:defRPr sz="4500" b="1">
                <a:solidFill>
                  <a:srgbClr val="087E8B"/>
                </a:solidFill>
              </a:defRPr>
            </a:lvl7pPr>
            <a:lvl8pPr>
              <a:defRPr sz="4500" b="1">
                <a:solidFill>
                  <a:srgbClr val="087E8B"/>
                </a:solidFill>
              </a:defRPr>
            </a:lvl8pPr>
            <a:lvl9pPr>
              <a:defRPr sz="4500" b="1">
                <a:solidFill>
                  <a:srgbClr val="087E8B"/>
                </a:solidFill>
              </a:defRPr>
            </a:lvl9pPr>
          </a:lstStyle>
          <a:p xmlns:a="http://schemas.openxmlformats.org/drawingml/2006/main">
            <a:pPr>
              <a:defRPr sz="4500" b="1">
                <a:solidFill>
                  <a:srgbClr val="087E8B"/>
                </a:solidFill>
              </a:defRPr>
            </a:pPr>
            <a:r>
              <a:rPr sz="4500" b="1">
                <a:solidFill>
                  <a:srgbClr val="087E8B"/>
                </a:solidFill>
              </a:rPr>
              <a:t>99.80%</a:t>
            </a:r>
          </a:p>
        </p:txBody>
      </p:sp>
      <p:sp>
        <p:nvSpPr>
          <p:cNvPr id="7" name="">
            <a:extLst xmlns:a="http://schemas.openxmlformats.org/drawingml/2006/main">
              <a:ext uri="{FF2B5EF4-FFF2-40B4-BE49-F238E27FC236}">
                <a16:creationId xmlns:a16="http://schemas.microsoft.com/office/drawing/2014/main" id="{9A8BF454-7B86-421D-94F7-8FC54D1FD8DF}"/>
              </a:ext>
            </a:extLst>
          </p:cNvPr>
          <p:cNvSpPr>
            <a:spLocks xmlns:a="http://schemas.openxmlformats.org/drawingml/2006/main" noGrp="1"/>
          </p:cNvSpPr>
          <p:nvPr/>
        </p:nvSpPr>
        <p:spPr>
          <a:xfrm xmlns:a="http://schemas.openxmlformats.org/drawingml/2006/main">
            <a:off x="685800" y="5191125"/>
            <a:ext cx="5048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46"/>
                </a:solidFill>
              </a:defRPr>
            </a:defPPr>
            <a:lvl1pPr>
              <a:defRPr sz="2100" b="0">
                <a:solidFill>
                  <a:srgbClr val="132F46"/>
                </a:solidFill>
              </a:defRPr>
            </a:lvl1pPr>
            <a:lvl2pPr>
              <a:defRPr sz="2100" b="0">
                <a:solidFill>
                  <a:srgbClr val="132F46"/>
                </a:solidFill>
              </a:defRPr>
            </a:lvl2pPr>
            <a:lvl3pPr>
              <a:defRPr sz="2100" b="0">
                <a:solidFill>
                  <a:srgbClr val="132F46"/>
                </a:solidFill>
              </a:defRPr>
            </a:lvl3pPr>
            <a:lvl4pPr>
              <a:defRPr sz="2100" b="0">
                <a:solidFill>
                  <a:srgbClr val="132F46"/>
                </a:solidFill>
              </a:defRPr>
            </a:lvl4pPr>
            <a:lvl5pPr>
              <a:defRPr sz="2100" b="0">
                <a:solidFill>
                  <a:srgbClr val="132F46"/>
                </a:solidFill>
              </a:defRPr>
            </a:lvl5pPr>
            <a:lvl6pPr>
              <a:defRPr sz="2100" b="0">
                <a:solidFill>
                  <a:srgbClr val="132F46"/>
                </a:solidFill>
              </a:defRPr>
            </a:lvl6pPr>
            <a:lvl7pPr>
              <a:defRPr sz="2100" b="0">
                <a:solidFill>
                  <a:srgbClr val="132F46"/>
                </a:solidFill>
              </a:defRPr>
            </a:lvl7pPr>
            <a:lvl8pPr>
              <a:defRPr sz="2100" b="0">
                <a:solidFill>
                  <a:srgbClr val="132F46"/>
                </a:solidFill>
              </a:defRPr>
            </a:lvl8pPr>
            <a:lvl9pPr>
              <a:defRPr sz="2100" b="0">
                <a:solidFill>
                  <a:srgbClr val="132F46"/>
                </a:solidFill>
              </a:defRPr>
            </a:lvl9pPr>
          </a:lstStyle>
          <a:p xmlns:a="http://schemas.openxmlformats.org/drawingml/2006/main">
            <a:pPr>
              <a:defRPr sz="2100" b="0">
                <a:solidFill>
                  <a:srgbClr val="132F46"/>
                </a:solidFill>
              </a:defRPr>
            </a:pPr>
            <a:r>
              <a:rPr sz="2100" b="0">
                <a:solidFill>
                  <a:srgbClr val="132F46"/>
                </a:solidFill>
              </a:rPr>
              <a:t>Attack detection recall</a:t>
            </a:r>
          </a:p>
        </p:txBody>
      </p:sp>
      <p:sp>
        <p:nvSpPr>
          <p:cNvPr id="8" name="">
            <a:extLst xmlns:a="http://schemas.openxmlformats.org/drawingml/2006/main">
              <a:ext uri="{FF2B5EF4-FFF2-40B4-BE49-F238E27FC236}">
                <a16:creationId xmlns:a16="http://schemas.microsoft.com/office/drawing/2014/main" id="{7E80469C-B03F-4BAE-8B34-3CF38D42272D}"/>
              </a:ext>
            </a:extLst>
          </p:cNvPr>
          <p:cNvSpPr>
            <a:spLocks xmlns:a="http://schemas.openxmlformats.org/drawingml/2006/main" noGrp="1"/>
          </p:cNvSpPr>
          <p:nvPr/>
        </p:nvSpPr>
        <p:spPr>
          <a:xfrm xmlns:a="http://schemas.openxmlformats.org/drawingml/2006/main">
            <a:off x="6762750" y="4343400"/>
            <a:ext cx="46672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500" b="1">
                <a:solidFill>
                  <a:srgbClr val="132F46"/>
                </a:solidFill>
              </a:defRPr>
            </a:defPPr>
            <a:lvl1pPr>
              <a:defRPr sz="4500" b="1">
                <a:solidFill>
                  <a:srgbClr val="132F46"/>
                </a:solidFill>
              </a:defRPr>
            </a:lvl1pPr>
            <a:lvl2pPr>
              <a:defRPr sz="4500" b="1">
                <a:solidFill>
                  <a:srgbClr val="132F46"/>
                </a:solidFill>
              </a:defRPr>
            </a:lvl2pPr>
            <a:lvl3pPr>
              <a:defRPr sz="4500" b="1">
                <a:solidFill>
                  <a:srgbClr val="132F46"/>
                </a:solidFill>
              </a:defRPr>
            </a:lvl3pPr>
            <a:lvl4pPr>
              <a:defRPr sz="4500" b="1">
                <a:solidFill>
                  <a:srgbClr val="132F46"/>
                </a:solidFill>
              </a:defRPr>
            </a:lvl4pPr>
            <a:lvl5pPr>
              <a:defRPr sz="4500" b="1">
                <a:solidFill>
                  <a:srgbClr val="132F46"/>
                </a:solidFill>
              </a:defRPr>
            </a:lvl5pPr>
            <a:lvl6pPr>
              <a:defRPr sz="4500" b="1">
                <a:solidFill>
                  <a:srgbClr val="132F46"/>
                </a:solidFill>
              </a:defRPr>
            </a:lvl6pPr>
            <a:lvl7pPr>
              <a:defRPr sz="4500" b="1">
                <a:solidFill>
                  <a:srgbClr val="132F46"/>
                </a:solidFill>
              </a:defRPr>
            </a:lvl7pPr>
            <a:lvl8pPr>
              <a:defRPr sz="4500" b="1">
                <a:solidFill>
                  <a:srgbClr val="132F46"/>
                </a:solidFill>
              </a:defRPr>
            </a:lvl8pPr>
            <a:lvl9pPr>
              <a:defRPr sz="4500" b="1">
                <a:solidFill>
                  <a:srgbClr val="132F46"/>
                </a:solidFill>
              </a:defRPr>
            </a:lvl9pPr>
          </a:lstStyle>
          <a:p xmlns:a="http://schemas.openxmlformats.org/drawingml/2006/main">
            <a:pPr>
              <a:defRPr sz="4500" b="1">
                <a:solidFill>
                  <a:srgbClr val="132F46"/>
                </a:solidFill>
              </a:defRPr>
            </a:pPr>
            <a:r>
              <a:rPr sz="4500" b="1">
                <a:solidFill>
                  <a:srgbClr val="132F46"/>
                </a:solidFill>
              </a:rPr>
              <a:t>0.51%</a:t>
            </a:r>
          </a:p>
        </p:txBody>
      </p:sp>
      <p:sp>
        <p:nvSpPr>
          <p:cNvPr id="9" name="">
            <a:extLst xmlns:a="http://schemas.openxmlformats.org/drawingml/2006/main">
              <a:ext uri="{FF2B5EF4-FFF2-40B4-BE49-F238E27FC236}">
                <a16:creationId xmlns:a16="http://schemas.microsoft.com/office/drawing/2014/main" id="{C16CEE1B-55F2-4EDB-89E3-7A82A6EF6D50}"/>
              </a:ext>
            </a:extLst>
          </p:cNvPr>
          <p:cNvSpPr>
            <a:spLocks xmlns:a="http://schemas.openxmlformats.org/drawingml/2006/main" noGrp="1"/>
          </p:cNvSpPr>
          <p:nvPr/>
        </p:nvSpPr>
        <p:spPr>
          <a:xfrm xmlns:a="http://schemas.openxmlformats.org/drawingml/2006/main">
            <a:off x="6762750" y="5191125"/>
            <a:ext cx="466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32F46"/>
                </a:solidFill>
              </a:defRPr>
            </a:defPPr>
            <a:lvl1pPr>
              <a:defRPr sz="2100" b="0">
                <a:solidFill>
                  <a:srgbClr val="132F46"/>
                </a:solidFill>
              </a:defRPr>
            </a:lvl1pPr>
            <a:lvl2pPr>
              <a:defRPr sz="2100" b="0">
                <a:solidFill>
                  <a:srgbClr val="132F46"/>
                </a:solidFill>
              </a:defRPr>
            </a:lvl2pPr>
            <a:lvl3pPr>
              <a:defRPr sz="2100" b="0">
                <a:solidFill>
                  <a:srgbClr val="132F46"/>
                </a:solidFill>
              </a:defRPr>
            </a:lvl3pPr>
            <a:lvl4pPr>
              <a:defRPr sz="2100" b="0">
                <a:solidFill>
                  <a:srgbClr val="132F46"/>
                </a:solidFill>
              </a:defRPr>
            </a:lvl4pPr>
            <a:lvl5pPr>
              <a:defRPr sz="2100" b="0">
                <a:solidFill>
                  <a:srgbClr val="132F46"/>
                </a:solidFill>
              </a:defRPr>
            </a:lvl5pPr>
            <a:lvl6pPr>
              <a:defRPr sz="2100" b="0">
                <a:solidFill>
                  <a:srgbClr val="132F46"/>
                </a:solidFill>
              </a:defRPr>
            </a:lvl6pPr>
            <a:lvl7pPr>
              <a:defRPr sz="2100" b="0">
                <a:solidFill>
                  <a:srgbClr val="132F46"/>
                </a:solidFill>
              </a:defRPr>
            </a:lvl7pPr>
            <a:lvl8pPr>
              <a:defRPr sz="2100" b="0">
                <a:solidFill>
                  <a:srgbClr val="132F46"/>
                </a:solidFill>
              </a:defRPr>
            </a:lvl8pPr>
            <a:lvl9pPr>
              <a:defRPr sz="2100" b="0">
                <a:solidFill>
                  <a:srgbClr val="132F46"/>
                </a:solidFill>
              </a:defRPr>
            </a:lvl9pPr>
          </a:lstStyle>
          <a:p xmlns:a="http://schemas.openxmlformats.org/drawingml/2006/main">
            <a:pPr>
              <a:defRPr sz="2100" b="0">
                <a:solidFill>
                  <a:srgbClr val="132F46"/>
                </a:solidFill>
              </a:defRPr>
            </a:pPr>
            <a:r>
              <a:rPr sz="2100" b="0">
                <a:solidFill>
                  <a:srgbClr val="132F46"/>
                </a:solidFill>
              </a:rPr>
              <a:t>Benign false alarm rate</a:t>
            </a:r>
          </a:p>
        </p:txBody>
      </p:sp>
    </p:spTree>
    <p:extLst>
      <p:ext uri="{BB962C8B-B14F-4D97-AF65-F5344CB8AC3E}">
        <p14:creationId xmlns:p14="http://schemas.microsoft.com/office/powerpoint/2010/main" val="2100607776"/>
      </p:ext>
    </p:extLst>
  </p:cSld>
</p:sld>
</file>

<file path=ppt/slides/slide14.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9B372C3-A129-410B-B10D-CEFDE2F08D4B}"/>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52F1E64C-6342-430E-96D6-0F9BA6C888D9}"/>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The dashboard makes the experiment demonstrable</a:t>
            </a:r>
          </a:p>
        </p:txBody>
      </p:sp>
      <p:sp>
        <p:nvSpPr>
          <p:cNvPr id="3" name="">
            <a:extLst xmlns:a="http://schemas.openxmlformats.org/drawingml/2006/main">
              <a:ext uri="{FF2B5EF4-FFF2-40B4-BE49-F238E27FC236}">
                <a16:creationId xmlns:a16="http://schemas.microsoft.com/office/drawing/2014/main" id="{947C094D-E97F-4647-902F-449AA1065E07}"/>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DFECD2DB-A870-4612-9467-D3C1702F2651}"/>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14</a:t>
            </a:r>
          </a:p>
        </p:txBody>
      </p:sp>
      <p:sp>
        <p:nvSpPr>
          <p:cNvPr id="5" name="">
            <a:extLst xmlns:a="http://schemas.openxmlformats.org/drawingml/2006/main">
              <a:ext uri="{FF2B5EF4-FFF2-40B4-BE49-F238E27FC236}">
                <a16:creationId xmlns:a16="http://schemas.microsoft.com/office/drawing/2014/main" id="{2A1EBA03-7604-4741-BD70-6F8C10070920}"/>
              </a:ext>
            </a:extLst>
          </p:cNvPr>
          <p:cNvSpPr>
            <a:spLocks xmlns:a="http://schemas.openxmlformats.org/drawingml/2006/main" noGrp="1"/>
          </p:cNvSpPr>
          <p:nvPr/>
        </p:nvSpPr>
        <p:spPr>
          <a:xfrm xmlns:a="http://schemas.openxmlformats.org/drawingml/2006/main">
            <a:off x="685800" y="1857375"/>
            <a:ext cx="10668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32F46"/>
                </a:solidFill>
              </a:defRPr>
            </a:defPPr>
            <a:lvl1pPr>
              <a:defRPr sz="2250" b="0">
                <a:solidFill>
                  <a:srgbClr val="132F46"/>
                </a:solidFill>
              </a:defRPr>
            </a:lvl1pPr>
            <a:lvl2pPr>
              <a:defRPr sz="2250" b="0">
                <a:solidFill>
                  <a:srgbClr val="132F46"/>
                </a:solidFill>
              </a:defRPr>
            </a:lvl2pPr>
            <a:lvl3pPr>
              <a:defRPr sz="2250" b="0">
                <a:solidFill>
                  <a:srgbClr val="132F46"/>
                </a:solidFill>
              </a:defRPr>
            </a:lvl3pPr>
            <a:lvl4pPr>
              <a:defRPr sz="2250" b="0">
                <a:solidFill>
                  <a:srgbClr val="132F46"/>
                </a:solidFill>
              </a:defRPr>
            </a:lvl4pPr>
            <a:lvl5pPr>
              <a:defRPr sz="2250" b="0">
                <a:solidFill>
                  <a:srgbClr val="132F46"/>
                </a:solidFill>
              </a:defRPr>
            </a:lvl5pPr>
            <a:lvl6pPr>
              <a:defRPr sz="2250" b="0">
                <a:solidFill>
                  <a:srgbClr val="132F46"/>
                </a:solidFill>
              </a:defRPr>
            </a:lvl6pPr>
            <a:lvl7pPr>
              <a:defRPr sz="2250" b="0">
                <a:solidFill>
                  <a:srgbClr val="132F46"/>
                </a:solidFill>
              </a:defRPr>
            </a:lvl7pPr>
            <a:lvl8pPr>
              <a:defRPr sz="2250" b="0">
                <a:solidFill>
                  <a:srgbClr val="132F46"/>
                </a:solidFill>
              </a:defRPr>
            </a:lvl8pPr>
            <a:lvl9pPr>
              <a:defRPr sz="2250" b="0">
                <a:solidFill>
                  <a:srgbClr val="132F46"/>
                </a:solidFill>
              </a:defRPr>
            </a:lvl9pPr>
          </a:lstStyle>
          <a:p xmlns:a="http://schemas.openxmlformats.org/drawingml/2006/main">
            <a:pPr>
              <a:defRPr sz="2250" b="0">
                <a:solidFill>
                  <a:srgbClr val="132F46"/>
                </a:solidFill>
              </a:defRPr>
            </a:pPr>
            <a:r>
              <a:rPr sz="2250" b="0">
                <a:solidFill>
                  <a:srgbClr val="132F46"/>
                </a:solidFill>
              </a:rPr>
              <a:t>Model results</a:t>
            </a:r>
          </a:p>
          <a:p xmlns:a="http://schemas.openxmlformats.org/drawingml/2006/main">
            <a:pPr>
              <a:defRPr sz="2250" b="0">
                <a:solidFill>
                  <a:srgbClr val="132F46"/>
                </a:solidFill>
              </a:defRPr>
            </a:pPr>
            <a:r>
              <a:rPr sz="2250" b="0">
                <a:solidFill>
                  <a:srgbClr val="132F46"/>
                </a:solidFill>
              </a:rPr>
              <a:t>Validation comparison, test metrics and confusion matrix</a:t>
            </a:r>
          </a:p>
          <a:p xmlns:a="http://schemas.openxmlformats.org/drawingml/2006/main">
            <a:r>
              <a:t/>
            </a:r>
          </a:p>
          <a:p xmlns:a="http://schemas.openxmlformats.org/drawingml/2006/main">
            <a:pPr>
              <a:defRPr sz="2250" b="0">
                <a:solidFill>
                  <a:srgbClr val="132F46"/>
                </a:solidFill>
              </a:defRPr>
            </a:pPr>
            <a:r>
              <a:rPr sz="2250" b="0">
                <a:solidFill>
                  <a:srgbClr val="132F46"/>
                </a:solidFill>
              </a:rPr>
              <a:t>Detect attacks</a:t>
            </a:r>
          </a:p>
          <a:p xmlns:a="http://schemas.openxmlformats.org/drawingml/2006/main">
            <a:pPr>
              <a:defRPr sz="2250" b="0">
                <a:solidFill>
                  <a:srgbClr val="132F46"/>
                </a:solidFill>
              </a:defRPr>
            </a:pPr>
            <a:r>
              <a:rPr sz="2250" b="0">
                <a:solidFill>
                  <a:srgbClr val="132F46"/>
                </a:solidFill>
              </a:rPr>
              <a:t>Upload compatible CSVs and download predicted categories</a:t>
            </a:r>
          </a:p>
          <a:p xmlns:a="http://schemas.openxmlformats.org/drawingml/2006/main">
            <a:r>
              <a:t/>
            </a:r>
          </a:p>
          <a:p xmlns:a="http://schemas.openxmlformats.org/drawingml/2006/main">
            <a:pPr>
              <a:defRPr sz="2250" b="0">
                <a:solidFill>
                  <a:srgbClr val="132F46"/>
                </a:solidFill>
              </a:defRPr>
            </a:pPr>
            <a:r>
              <a:rPr sz="2250" b="0">
                <a:solidFill>
                  <a:srgbClr val="132F46"/>
                </a:solidFill>
              </a:rPr>
              <a:t>Experiments</a:t>
            </a:r>
          </a:p>
          <a:p xmlns:a="http://schemas.openxmlformats.org/drawingml/2006/main">
            <a:pPr>
              <a:defRPr sz="2250" b="0">
                <a:solidFill>
                  <a:srgbClr val="132F46"/>
                </a:solidFill>
              </a:defRPr>
            </a:pPr>
            <a:r>
              <a:rPr sz="2250" b="0">
                <a:solidFill>
                  <a:srgbClr val="132F46"/>
                </a:solidFill>
              </a:rPr>
              <a:t>Inspect tree search settings, uncertainty and error groups</a:t>
            </a:r>
          </a:p>
        </p:txBody>
      </p:sp>
    </p:spTree>
    <p:extLst>
      <p:ext uri="{BB962C8B-B14F-4D97-AF65-F5344CB8AC3E}">
        <p14:creationId xmlns:p14="http://schemas.microsoft.com/office/powerpoint/2010/main" val="1109114097"/>
      </p:ext>
    </p:extLst>
  </p:cSld>
</p:sld>
</file>

<file path=ppt/slides/slide15.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ECD6A45-480F-45C1-A245-85526276C33D}"/>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E9310F73-90C6-4A83-B01B-435ACDF2AD2E}"/>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The experiment can be reproduced locally</a:t>
            </a:r>
          </a:p>
        </p:txBody>
      </p:sp>
      <p:sp>
        <p:nvSpPr>
          <p:cNvPr id="3" name="">
            <a:extLst xmlns:a="http://schemas.openxmlformats.org/drawingml/2006/main">
              <a:ext uri="{FF2B5EF4-FFF2-40B4-BE49-F238E27FC236}">
                <a16:creationId xmlns:a16="http://schemas.microsoft.com/office/drawing/2014/main" id="{F2C87EB0-5111-4A8A-ACBA-5AEA3EACD009}"/>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DA610781-4D9F-40CF-8151-7777B88DFB27}"/>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15</a:t>
            </a:r>
          </a:p>
        </p:txBody>
      </p:sp>
      <p:sp>
        <p:nvSpPr>
          <p:cNvPr id="5" name="">
            <a:extLst xmlns:a="http://schemas.openxmlformats.org/drawingml/2006/main">
              <a:ext uri="{FF2B5EF4-FFF2-40B4-BE49-F238E27FC236}">
                <a16:creationId xmlns:a16="http://schemas.microsoft.com/office/drawing/2014/main" id="{290EB529-032C-4B54-8002-AE73CFB0A0C9}"/>
              </a:ext>
            </a:extLst>
          </p:cNvPr>
          <p:cNvSpPr>
            <a:spLocks xmlns:a="http://schemas.openxmlformats.org/drawingml/2006/main" noGrp="1"/>
          </p:cNvSpPr>
          <p:nvPr/>
        </p:nvSpPr>
        <p:spPr>
          <a:xfrm xmlns:a="http://schemas.openxmlformats.org/drawingml/2006/main">
            <a:off x="685800" y="19335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E8B"/>
                </a:solidFill>
              </a:defRPr>
            </a:defPPr>
            <a:lvl1pPr>
              <a:defRPr sz="2400" b="1">
                <a:solidFill>
                  <a:srgbClr val="087E8B"/>
                </a:solidFill>
              </a:defRPr>
            </a:lvl1pPr>
            <a:lvl2pPr>
              <a:defRPr sz="2400" b="1">
                <a:solidFill>
                  <a:srgbClr val="087E8B"/>
                </a:solidFill>
              </a:defRPr>
            </a:lvl2pPr>
            <a:lvl3pPr>
              <a:defRPr sz="2400" b="1">
                <a:solidFill>
                  <a:srgbClr val="087E8B"/>
                </a:solidFill>
              </a:defRPr>
            </a:lvl3pPr>
            <a:lvl4pPr>
              <a:defRPr sz="2400" b="1">
                <a:solidFill>
                  <a:srgbClr val="087E8B"/>
                </a:solidFill>
              </a:defRPr>
            </a:lvl4pPr>
            <a:lvl5pPr>
              <a:defRPr sz="2400" b="1">
                <a:solidFill>
                  <a:srgbClr val="087E8B"/>
                </a:solidFill>
              </a:defRPr>
            </a:lvl5pPr>
            <a:lvl6pPr>
              <a:defRPr sz="2400" b="1">
                <a:solidFill>
                  <a:srgbClr val="087E8B"/>
                </a:solidFill>
              </a:defRPr>
            </a:lvl6pPr>
            <a:lvl7pPr>
              <a:defRPr sz="2400" b="1">
                <a:solidFill>
                  <a:srgbClr val="087E8B"/>
                </a:solidFill>
              </a:defRPr>
            </a:lvl7pPr>
            <a:lvl8pPr>
              <a:defRPr sz="2400" b="1">
                <a:solidFill>
                  <a:srgbClr val="087E8B"/>
                </a:solidFill>
              </a:defRPr>
            </a:lvl8pPr>
            <a:lvl9pPr>
              <a:defRPr sz="2400" b="1">
                <a:solidFill>
                  <a:srgbClr val="087E8B"/>
                </a:solidFill>
              </a:defRPr>
            </a:lvl9pPr>
          </a:lstStyle>
          <a:p xmlns:a="http://schemas.openxmlformats.org/drawingml/2006/main">
            <a:pPr>
              <a:defRPr sz="2400" b="1">
                <a:solidFill>
                  <a:srgbClr val="087E8B"/>
                </a:solidFill>
              </a:defRPr>
            </a:pPr>
            <a:r>
              <a:rPr sz="2400" b="1">
                <a:solidFill>
                  <a:srgbClr val="087E8B"/>
                </a:solidFill>
              </a:rPr>
              <a:t>1   Run training</a:t>
            </a:r>
          </a:p>
        </p:txBody>
      </p:sp>
      <p:sp>
        <p:nvSpPr>
          <p:cNvPr id="6" name="">
            <a:extLst xmlns:a="http://schemas.openxmlformats.org/drawingml/2006/main">
              <a:ext uri="{FF2B5EF4-FFF2-40B4-BE49-F238E27FC236}">
                <a16:creationId xmlns:a16="http://schemas.microsoft.com/office/drawing/2014/main" id="{623EC082-647D-4B3F-BC4B-B5A720959335}"/>
              </a:ext>
            </a:extLst>
          </p:cNvPr>
          <p:cNvSpPr>
            <a:spLocks xmlns:a="http://schemas.openxmlformats.org/drawingml/2006/main" noGrp="1"/>
          </p:cNvSpPr>
          <p:nvPr/>
        </p:nvSpPr>
        <p:spPr>
          <a:xfrm xmlns:a="http://schemas.openxmlformats.org/drawingml/2006/main">
            <a:off x="685800" y="2533650"/>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F46"/>
                </a:solidFill>
              </a:defRPr>
            </a:defPPr>
            <a:lvl1pPr>
              <a:defRPr sz="2175" b="0">
                <a:solidFill>
                  <a:srgbClr val="132F46"/>
                </a:solidFill>
              </a:defRPr>
            </a:lvl1pPr>
            <a:lvl2pPr>
              <a:defRPr sz="2175" b="0">
                <a:solidFill>
                  <a:srgbClr val="132F46"/>
                </a:solidFill>
              </a:defRPr>
            </a:lvl2pPr>
            <a:lvl3pPr>
              <a:defRPr sz="2175" b="0">
                <a:solidFill>
                  <a:srgbClr val="132F46"/>
                </a:solidFill>
              </a:defRPr>
            </a:lvl3pPr>
            <a:lvl4pPr>
              <a:defRPr sz="2175" b="0">
                <a:solidFill>
                  <a:srgbClr val="132F46"/>
                </a:solidFill>
              </a:defRPr>
            </a:lvl4pPr>
            <a:lvl5pPr>
              <a:defRPr sz="2175" b="0">
                <a:solidFill>
                  <a:srgbClr val="132F46"/>
                </a:solidFill>
              </a:defRPr>
            </a:lvl5pPr>
            <a:lvl6pPr>
              <a:defRPr sz="2175" b="0">
                <a:solidFill>
                  <a:srgbClr val="132F46"/>
                </a:solidFill>
              </a:defRPr>
            </a:lvl6pPr>
            <a:lvl7pPr>
              <a:defRPr sz="2175" b="0">
                <a:solidFill>
                  <a:srgbClr val="132F46"/>
                </a:solidFill>
              </a:defRPr>
            </a:lvl7pPr>
            <a:lvl8pPr>
              <a:defRPr sz="2175" b="0">
                <a:solidFill>
                  <a:srgbClr val="132F46"/>
                </a:solidFill>
              </a:defRPr>
            </a:lvl8pPr>
            <a:lvl9pPr>
              <a:defRPr sz="2175" b="0">
                <a:solidFill>
                  <a:srgbClr val="132F46"/>
                </a:solidFill>
              </a:defRPr>
            </a:lvl9pPr>
          </a:lstStyle>
          <a:p xmlns:a="http://schemas.openxmlformats.org/drawingml/2006/main">
            <a:pPr>
              <a:defRPr sz="2175" b="0">
                <a:solidFill>
                  <a:srgbClr val="132F46"/>
                </a:solidFill>
              </a:defRPr>
            </a:pPr>
            <a:r>
              <a:rPr sz="2175" b="0">
                <a:solidFill>
                  <a:srgbClr val="132F46"/>
                </a:solidFill>
              </a:rPr>
              <a:t>.venv\Scripts\python.exe train.py</a:t>
            </a:r>
          </a:p>
        </p:txBody>
      </p:sp>
      <p:sp>
        <p:nvSpPr>
          <p:cNvPr id="7" name="">
            <a:extLst xmlns:a="http://schemas.openxmlformats.org/drawingml/2006/main">
              <a:ext uri="{FF2B5EF4-FFF2-40B4-BE49-F238E27FC236}">
                <a16:creationId xmlns:a16="http://schemas.microsoft.com/office/drawing/2014/main" id="{BF2BFDC0-6999-45C1-AF25-54DA9CF3DDA7}"/>
              </a:ext>
            </a:extLst>
          </p:cNvPr>
          <p:cNvSpPr>
            <a:spLocks xmlns:a="http://schemas.openxmlformats.org/drawingml/2006/main" noGrp="1"/>
          </p:cNvSpPr>
          <p:nvPr/>
        </p:nvSpPr>
        <p:spPr>
          <a:xfrm xmlns:a="http://schemas.openxmlformats.org/drawingml/2006/main">
            <a:off x="685800" y="34099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E8B"/>
                </a:solidFill>
              </a:defRPr>
            </a:defPPr>
            <a:lvl1pPr>
              <a:defRPr sz="2400" b="1">
                <a:solidFill>
                  <a:srgbClr val="087E8B"/>
                </a:solidFill>
              </a:defRPr>
            </a:lvl1pPr>
            <a:lvl2pPr>
              <a:defRPr sz="2400" b="1">
                <a:solidFill>
                  <a:srgbClr val="087E8B"/>
                </a:solidFill>
              </a:defRPr>
            </a:lvl2pPr>
            <a:lvl3pPr>
              <a:defRPr sz="2400" b="1">
                <a:solidFill>
                  <a:srgbClr val="087E8B"/>
                </a:solidFill>
              </a:defRPr>
            </a:lvl3pPr>
            <a:lvl4pPr>
              <a:defRPr sz="2400" b="1">
                <a:solidFill>
                  <a:srgbClr val="087E8B"/>
                </a:solidFill>
              </a:defRPr>
            </a:lvl4pPr>
            <a:lvl5pPr>
              <a:defRPr sz="2400" b="1">
                <a:solidFill>
                  <a:srgbClr val="087E8B"/>
                </a:solidFill>
              </a:defRPr>
            </a:lvl5pPr>
            <a:lvl6pPr>
              <a:defRPr sz="2400" b="1">
                <a:solidFill>
                  <a:srgbClr val="087E8B"/>
                </a:solidFill>
              </a:defRPr>
            </a:lvl6pPr>
            <a:lvl7pPr>
              <a:defRPr sz="2400" b="1">
                <a:solidFill>
                  <a:srgbClr val="087E8B"/>
                </a:solidFill>
              </a:defRPr>
            </a:lvl7pPr>
            <a:lvl8pPr>
              <a:defRPr sz="2400" b="1">
                <a:solidFill>
                  <a:srgbClr val="087E8B"/>
                </a:solidFill>
              </a:defRPr>
            </a:lvl8pPr>
            <a:lvl9pPr>
              <a:defRPr sz="2400" b="1">
                <a:solidFill>
                  <a:srgbClr val="087E8B"/>
                </a:solidFill>
              </a:defRPr>
            </a:lvl9pPr>
          </a:lstStyle>
          <a:p xmlns:a="http://schemas.openxmlformats.org/drawingml/2006/main">
            <a:pPr>
              <a:defRPr sz="2400" b="1">
                <a:solidFill>
                  <a:srgbClr val="087E8B"/>
                </a:solidFill>
              </a:defRPr>
            </a:pPr>
            <a:r>
              <a:rPr sz="2400" b="1">
                <a:solidFill>
                  <a:srgbClr val="087E8B"/>
                </a:solidFill>
              </a:rPr>
              <a:t>2   Verify and inspect</a:t>
            </a:r>
          </a:p>
        </p:txBody>
      </p:sp>
      <p:sp>
        <p:nvSpPr>
          <p:cNvPr id="8" name="">
            <a:extLst xmlns:a="http://schemas.openxmlformats.org/drawingml/2006/main">
              <a:ext uri="{FF2B5EF4-FFF2-40B4-BE49-F238E27FC236}">
                <a16:creationId xmlns:a16="http://schemas.microsoft.com/office/drawing/2014/main" id="{17F86263-0595-489D-9468-14E3DB294689}"/>
              </a:ext>
            </a:extLst>
          </p:cNvPr>
          <p:cNvSpPr>
            <a:spLocks xmlns:a="http://schemas.openxmlformats.org/drawingml/2006/main" noGrp="1"/>
          </p:cNvSpPr>
          <p:nvPr/>
        </p:nvSpPr>
        <p:spPr>
          <a:xfrm xmlns:a="http://schemas.openxmlformats.org/drawingml/2006/main">
            <a:off x="685800" y="4010025"/>
            <a:ext cx="1057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132F46"/>
                </a:solidFill>
              </a:defRPr>
            </a:defPPr>
            <a:lvl1pPr>
              <a:defRPr sz="2175" b="0">
                <a:solidFill>
                  <a:srgbClr val="132F46"/>
                </a:solidFill>
              </a:defRPr>
            </a:lvl1pPr>
            <a:lvl2pPr>
              <a:defRPr sz="2175" b="0">
                <a:solidFill>
                  <a:srgbClr val="132F46"/>
                </a:solidFill>
              </a:defRPr>
            </a:lvl2pPr>
            <a:lvl3pPr>
              <a:defRPr sz="2175" b="0">
                <a:solidFill>
                  <a:srgbClr val="132F46"/>
                </a:solidFill>
              </a:defRPr>
            </a:lvl3pPr>
            <a:lvl4pPr>
              <a:defRPr sz="2175" b="0">
                <a:solidFill>
                  <a:srgbClr val="132F46"/>
                </a:solidFill>
              </a:defRPr>
            </a:lvl4pPr>
            <a:lvl5pPr>
              <a:defRPr sz="2175" b="0">
                <a:solidFill>
                  <a:srgbClr val="132F46"/>
                </a:solidFill>
              </a:defRPr>
            </a:lvl5pPr>
            <a:lvl6pPr>
              <a:defRPr sz="2175" b="0">
                <a:solidFill>
                  <a:srgbClr val="132F46"/>
                </a:solidFill>
              </a:defRPr>
            </a:lvl6pPr>
            <a:lvl7pPr>
              <a:defRPr sz="2175" b="0">
                <a:solidFill>
                  <a:srgbClr val="132F46"/>
                </a:solidFill>
              </a:defRPr>
            </a:lvl7pPr>
            <a:lvl8pPr>
              <a:defRPr sz="2175" b="0">
                <a:solidFill>
                  <a:srgbClr val="132F46"/>
                </a:solidFill>
              </a:defRPr>
            </a:lvl8pPr>
            <a:lvl9pPr>
              <a:defRPr sz="2175" b="0">
                <a:solidFill>
                  <a:srgbClr val="132F46"/>
                </a:solidFill>
              </a:defRPr>
            </a:lvl9pPr>
          </a:lstStyle>
          <a:p xmlns:a="http://schemas.openxmlformats.org/drawingml/2006/main">
            <a:pPr>
              <a:defRPr sz="2175" b="0">
                <a:solidFill>
                  <a:srgbClr val="132F46"/>
                </a:solidFill>
              </a:defRPr>
            </a:pPr>
            <a:r>
              <a:rPr sz="2175" b="0">
                <a:solidFill>
                  <a:srgbClr val="132F46"/>
                </a:solidFill>
              </a:rPr>
              <a:t>verify.py   +   IDS_Experiment.ipynb</a:t>
            </a:r>
          </a:p>
        </p:txBody>
      </p:sp>
      <p:sp>
        <p:nvSpPr>
          <p:cNvPr id="9" name="">
            <a:extLst xmlns:a="http://schemas.openxmlformats.org/drawingml/2006/main">
              <a:ext uri="{FF2B5EF4-FFF2-40B4-BE49-F238E27FC236}">
                <a16:creationId xmlns:a16="http://schemas.microsoft.com/office/drawing/2014/main" id="{D6069C34-1E21-4963-827E-C2EA996ECEC8}"/>
              </a:ext>
            </a:extLst>
          </p:cNvPr>
          <p:cNvSpPr>
            <a:spLocks xmlns:a="http://schemas.openxmlformats.org/drawingml/2006/main" noGrp="1"/>
          </p:cNvSpPr>
          <p:nvPr/>
        </p:nvSpPr>
        <p:spPr>
          <a:xfrm xmlns:a="http://schemas.openxmlformats.org/drawingml/2006/main">
            <a:off x="685800" y="4886325"/>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087E8B"/>
                </a:solidFill>
              </a:defRPr>
            </a:defPPr>
            <a:lvl1pPr>
              <a:defRPr sz="2400" b="1">
                <a:solidFill>
                  <a:srgbClr val="087E8B"/>
                </a:solidFill>
              </a:defRPr>
            </a:lvl1pPr>
            <a:lvl2pPr>
              <a:defRPr sz="2400" b="1">
                <a:solidFill>
                  <a:srgbClr val="087E8B"/>
                </a:solidFill>
              </a:defRPr>
            </a:lvl2pPr>
            <a:lvl3pPr>
              <a:defRPr sz="2400" b="1">
                <a:solidFill>
                  <a:srgbClr val="087E8B"/>
                </a:solidFill>
              </a:defRPr>
            </a:lvl3pPr>
            <a:lvl4pPr>
              <a:defRPr sz="2400" b="1">
                <a:solidFill>
                  <a:srgbClr val="087E8B"/>
                </a:solidFill>
              </a:defRPr>
            </a:lvl4pPr>
            <a:lvl5pPr>
              <a:defRPr sz="2400" b="1">
                <a:solidFill>
                  <a:srgbClr val="087E8B"/>
                </a:solidFill>
              </a:defRPr>
            </a:lvl5pPr>
            <a:lvl6pPr>
              <a:defRPr sz="2400" b="1">
                <a:solidFill>
                  <a:srgbClr val="087E8B"/>
                </a:solidFill>
              </a:defRPr>
            </a:lvl6pPr>
            <a:lvl7pPr>
              <a:defRPr sz="2400" b="1">
                <a:solidFill>
                  <a:srgbClr val="087E8B"/>
                </a:solidFill>
              </a:defRPr>
            </a:lvl7pPr>
            <a:lvl8pPr>
              <a:defRPr sz="2400" b="1">
                <a:solidFill>
                  <a:srgbClr val="087E8B"/>
                </a:solidFill>
              </a:defRPr>
            </a:lvl8pPr>
            <a:lvl9pPr>
              <a:defRPr sz="2400" b="1">
                <a:solidFill>
                  <a:srgbClr val="087E8B"/>
                </a:solidFill>
              </a:defRPr>
            </a:lvl9pPr>
          </a:lstStyle>
          <a:p xmlns:a="http://schemas.openxmlformats.org/drawingml/2006/main">
            <a:pPr>
              <a:defRPr sz="2400" b="1">
                <a:solidFill>
                  <a:srgbClr val="087E8B"/>
                </a:solidFill>
              </a:defRPr>
            </a:pPr>
            <a:r>
              <a:rPr sz="2400" b="1">
                <a:solidFill>
                  <a:srgbClr val="087E8B"/>
                </a:solidFill>
              </a:rPr>
              <a:t>3   Start the demo</a:t>
            </a:r>
          </a:p>
        </p:txBody>
      </p:sp>
      <p:sp>
        <p:nvSpPr>
          <p:cNvPr id="10" name="">
            <a:extLst xmlns:a="http://schemas.openxmlformats.org/drawingml/2006/main">
              <a:ext uri="{FF2B5EF4-FFF2-40B4-BE49-F238E27FC236}">
                <a16:creationId xmlns:a16="http://schemas.microsoft.com/office/drawing/2014/main" id="{52577443-F02C-4988-931B-BE4D8836231A}"/>
              </a:ext>
            </a:extLst>
          </p:cNvPr>
          <p:cNvSpPr>
            <a:spLocks xmlns:a="http://schemas.openxmlformats.org/drawingml/2006/main" noGrp="1"/>
          </p:cNvSpPr>
          <p:nvPr/>
        </p:nvSpPr>
        <p:spPr>
          <a:xfrm xmlns:a="http://schemas.openxmlformats.org/drawingml/2006/main">
            <a:off x="685800" y="54864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32F46"/>
                </a:solidFill>
              </a:defRPr>
            </a:defPPr>
            <a:lvl1pPr>
              <a:defRPr sz="2025" b="0">
                <a:solidFill>
                  <a:srgbClr val="132F46"/>
                </a:solidFill>
              </a:defRPr>
            </a:lvl1pPr>
            <a:lvl2pPr>
              <a:defRPr sz="2025" b="0">
                <a:solidFill>
                  <a:srgbClr val="132F46"/>
                </a:solidFill>
              </a:defRPr>
            </a:lvl2pPr>
            <a:lvl3pPr>
              <a:defRPr sz="2025" b="0">
                <a:solidFill>
                  <a:srgbClr val="132F46"/>
                </a:solidFill>
              </a:defRPr>
            </a:lvl3pPr>
            <a:lvl4pPr>
              <a:defRPr sz="2025" b="0">
                <a:solidFill>
                  <a:srgbClr val="132F46"/>
                </a:solidFill>
              </a:defRPr>
            </a:lvl4pPr>
            <a:lvl5pPr>
              <a:defRPr sz="2025" b="0">
                <a:solidFill>
                  <a:srgbClr val="132F46"/>
                </a:solidFill>
              </a:defRPr>
            </a:lvl5pPr>
            <a:lvl6pPr>
              <a:defRPr sz="2025" b="0">
                <a:solidFill>
                  <a:srgbClr val="132F46"/>
                </a:solidFill>
              </a:defRPr>
            </a:lvl6pPr>
            <a:lvl7pPr>
              <a:defRPr sz="2025" b="0">
                <a:solidFill>
                  <a:srgbClr val="132F46"/>
                </a:solidFill>
              </a:defRPr>
            </a:lvl7pPr>
            <a:lvl8pPr>
              <a:defRPr sz="2025" b="0">
                <a:solidFill>
                  <a:srgbClr val="132F46"/>
                </a:solidFill>
              </a:defRPr>
            </a:lvl8pPr>
            <a:lvl9pPr>
              <a:defRPr sz="2025" b="0">
                <a:solidFill>
                  <a:srgbClr val="132F46"/>
                </a:solidFill>
              </a:defRPr>
            </a:lvl9pPr>
          </a:lstStyle>
          <a:p xmlns:a="http://schemas.openxmlformats.org/drawingml/2006/main">
            <a:pPr>
              <a:defRPr sz="2025" b="0">
                <a:solidFill>
                  <a:srgbClr val="132F46"/>
                </a:solidFill>
              </a:defRPr>
            </a:pPr>
            <a:r>
              <a:rPr sz="2025" b="0">
                <a:solidFill>
                  <a:srgbClr val="132F46"/>
                </a:solidFill>
              </a:rPr>
              <a:t>.venv\Scripts\python.exe -m streamlit run app.py</a:t>
            </a:r>
          </a:p>
        </p:txBody>
      </p:sp>
    </p:spTree>
    <p:extLst>
      <p:ext uri="{BB962C8B-B14F-4D97-AF65-F5344CB8AC3E}">
        <p14:creationId xmlns:p14="http://schemas.microsoft.com/office/powerpoint/2010/main" val="1190679283"/>
      </p:ext>
    </p:extLst>
  </p:cSld>
</p:sld>
</file>

<file path=ppt/slides/slide16.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E9515CA-5E55-4DE3-922C-36F1EC166E15}"/>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0BD6D465-3B9E-44D7-9843-B18991501476}"/>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Conclusions and evaluation limits</a:t>
            </a:r>
          </a:p>
        </p:txBody>
      </p:sp>
      <p:sp>
        <p:nvSpPr>
          <p:cNvPr id="3" name="">
            <a:extLst xmlns:a="http://schemas.openxmlformats.org/drawingml/2006/main">
              <a:ext uri="{FF2B5EF4-FFF2-40B4-BE49-F238E27FC236}">
                <a16:creationId xmlns:a16="http://schemas.microsoft.com/office/drawing/2014/main" id="{F9C8D287-0E73-4933-BF5B-BC58D53BB917}"/>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99706CC1-3823-474A-9A58-3E454BCD8F54}"/>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16</a:t>
            </a:r>
          </a:p>
        </p:txBody>
      </p:sp>
      <p:sp>
        <p:nvSpPr>
          <p:cNvPr id="5" name="">
            <a:extLst xmlns:a="http://schemas.openxmlformats.org/drawingml/2006/main">
              <a:ext uri="{FF2B5EF4-FFF2-40B4-BE49-F238E27FC236}">
                <a16:creationId xmlns:a16="http://schemas.microsoft.com/office/drawing/2014/main" id="{885B9326-5E79-433D-854B-B990E6EF0FA0}"/>
              </a:ext>
            </a:extLst>
          </p:cNvPr>
          <p:cNvSpPr>
            <a:spLocks xmlns:a="http://schemas.openxmlformats.org/drawingml/2006/main" noGrp="1"/>
          </p:cNvSpPr>
          <p:nvPr/>
        </p:nvSpPr>
        <p:spPr>
          <a:xfrm xmlns:a="http://schemas.openxmlformats.org/drawingml/2006/main">
            <a:off x="685800" y="19240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B"/>
                </a:solidFill>
              </a:defRPr>
            </a:defPPr>
            <a:lvl1pPr>
              <a:defRPr sz="2250" b="1">
                <a:solidFill>
                  <a:srgbClr val="087E8B"/>
                </a:solidFill>
              </a:defRPr>
            </a:lvl1pPr>
            <a:lvl2pPr>
              <a:defRPr sz="2250" b="1">
                <a:solidFill>
                  <a:srgbClr val="087E8B"/>
                </a:solidFill>
              </a:defRPr>
            </a:lvl2pPr>
            <a:lvl3pPr>
              <a:defRPr sz="2250" b="1">
                <a:solidFill>
                  <a:srgbClr val="087E8B"/>
                </a:solidFill>
              </a:defRPr>
            </a:lvl3pPr>
            <a:lvl4pPr>
              <a:defRPr sz="2250" b="1">
                <a:solidFill>
                  <a:srgbClr val="087E8B"/>
                </a:solidFill>
              </a:defRPr>
            </a:lvl4pPr>
            <a:lvl5pPr>
              <a:defRPr sz="2250" b="1">
                <a:solidFill>
                  <a:srgbClr val="087E8B"/>
                </a:solidFill>
              </a:defRPr>
            </a:lvl5pPr>
            <a:lvl6pPr>
              <a:defRPr sz="2250" b="1">
                <a:solidFill>
                  <a:srgbClr val="087E8B"/>
                </a:solidFill>
              </a:defRPr>
            </a:lvl6pPr>
            <a:lvl7pPr>
              <a:defRPr sz="2250" b="1">
                <a:solidFill>
                  <a:srgbClr val="087E8B"/>
                </a:solidFill>
              </a:defRPr>
            </a:lvl7pPr>
            <a:lvl8pPr>
              <a:defRPr sz="2250" b="1">
                <a:solidFill>
                  <a:srgbClr val="087E8B"/>
                </a:solidFill>
              </a:defRPr>
            </a:lvl8pPr>
            <a:lvl9pPr>
              <a:defRPr sz="2250" b="1">
                <a:solidFill>
                  <a:srgbClr val="087E8B"/>
                </a:solidFill>
              </a:defRPr>
            </a:lvl9pPr>
          </a:lstStyle>
          <a:p xmlns:a="http://schemas.openxmlformats.org/drawingml/2006/main">
            <a:pPr>
              <a:defRPr sz="2250" b="1">
                <a:solidFill>
                  <a:srgbClr val="087E8B"/>
                </a:solidFill>
              </a:defRPr>
            </a:pPr>
            <a:r>
              <a:rPr sz="2250" b="1">
                <a:solidFill>
                  <a:srgbClr val="087E8B"/>
                </a:solidFill>
              </a:rPr>
              <a:t>Measured contribution</a:t>
            </a:r>
          </a:p>
        </p:txBody>
      </p:sp>
      <p:sp>
        <p:nvSpPr>
          <p:cNvPr id="6" name="">
            <a:extLst xmlns:a="http://schemas.openxmlformats.org/drawingml/2006/main">
              <a:ext uri="{FF2B5EF4-FFF2-40B4-BE49-F238E27FC236}">
                <a16:creationId xmlns:a16="http://schemas.microsoft.com/office/drawing/2014/main" id="{127AA56E-F174-4F28-86D1-8749347463C4}"/>
              </a:ext>
            </a:extLst>
          </p:cNvPr>
          <p:cNvSpPr>
            <a:spLocks xmlns:a="http://schemas.openxmlformats.org/drawingml/2006/main" noGrp="1"/>
          </p:cNvSpPr>
          <p:nvPr/>
        </p:nvSpPr>
        <p:spPr>
          <a:xfrm xmlns:a="http://schemas.openxmlformats.org/drawingml/2006/main">
            <a:off x="685800" y="24860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625" b="0">
                <a:solidFill>
                  <a:srgbClr val="132F46"/>
                </a:solidFill>
              </a:defRPr>
            </a:defPPr>
            <a:lvl1pPr>
              <a:defRPr sz="2625" b="0">
                <a:solidFill>
                  <a:srgbClr val="132F46"/>
                </a:solidFill>
              </a:defRPr>
            </a:lvl1pPr>
            <a:lvl2pPr>
              <a:defRPr sz="2625" b="0">
                <a:solidFill>
                  <a:srgbClr val="132F46"/>
                </a:solidFill>
              </a:defRPr>
            </a:lvl2pPr>
            <a:lvl3pPr>
              <a:defRPr sz="2625" b="0">
                <a:solidFill>
                  <a:srgbClr val="132F46"/>
                </a:solidFill>
              </a:defRPr>
            </a:lvl3pPr>
            <a:lvl4pPr>
              <a:defRPr sz="2625" b="0">
                <a:solidFill>
                  <a:srgbClr val="132F46"/>
                </a:solidFill>
              </a:defRPr>
            </a:lvl4pPr>
            <a:lvl5pPr>
              <a:defRPr sz="2625" b="0">
                <a:solidFill>
                  <a:srgbClr val="132F46"/>
                </a:solidFill>
              </a:defRPr>
            </a:lvl5pPr>
            <a:lvl6pPr>
              <a:defRPr sz="2625" b="0">
                <a:solidFill>
                  <a:srgbClr val="132F46"/>
                </a:solidFill>
              </a:defRPr>
            </a:lvl6pPr>
            <a:lvl7pPr>
              <a:defRPr sz="2625" b="0">
                <a:solidFill>
                  <a:srgbClr val="132F46"/>
                </a:solidFill>
              </a:defRPr>
            </a:lvl7pPr>
            <a:lvl8pPr>
              <a:defRPr sz="2625" b="0">
                <a:solidFill>
                  <a:srgbClr val="132F46"/>
                </a:solidFill>
              </a:defRPr>
            </a:lvl8pPr>
            <a:lvl9pPr>
              <a:defRPr sz="2625" b="0">
                <a:solidFill>
                  <a:srgbClr val="132F46"/>
                </a:solidFill>
              </a:defRPr>
            </a:lvl9pPr>
          </a:lstStyle>
          <a:p xmlns:a="http://schemas.openxmlformats.org/drawingml/2006/main">
            <a:pPr>
              <a:defRPr sz="2625" b="0">
                <a:solidFill>
                  <a:srgbClr val="132F46"/>
                </a:solidFill>
              </a:defRPr>
            </a:pPr>
            <a:r>
              <a:rPr sz="2625" b="0">
                <a:solidFill>
                  <a:srgbClr val="132F46"/>
                </a:solidFill>
              </a:rPr>
              <a:t>Eight configurations, reproducible artifacts and a working prediction tool</a:t>
            </a:r>
          </a:p>
        </p:txBody>
      </p:sp>
      <p:sp>
        <p:nvSpPr>
          <p:cNvPr id="7" name="">
            <a:extLst xmlns:a="http://schemas.openxmlformats.org/drawingml/2006/main">
              <a:ext uri="{FF2B5EF4-FFF2-40B4-BE49-F238E27FC236}">
                <a16:creationId xmlns:a16="http://schemas.microsoft.com/office/drawing/2014/main" id="{840BC3B6-40E9-47FA-9779-D880EF7997EB}"/>
              </a:ext>
            </a:extLst>
          </p:cNvPr>
          <p:cNvSpPr>
            <a:spLocks xmlns:a="http://schemas.openxmlformats.org/drawingml/2006/main" noGrp="1"/>
          </p:cNvSpPr>
          <p:nvPr/>
        </p:nvSpPr>
        <p:spPr>
          <a:xfrm xmlns:a="http://schemas.openxmlformats.org/drawingml/2006/main">
            <a:off x="685800" y="3790950"/>
            <a:ext cx="1047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087E8B"/>
                </a:solidFill>
              </a:defRPr>
            </a:defPPr>
            <a:lvl1pPr>
              <a:defRPr sz="2250" b="1">
                <a:solidFill>
                  <a:srgbClr val="087E8B"/>
                </a:solidFill>
              </a:defRPr>
            </a:lvl1pPr>
            <a:lvl2pPr>
              <a:defRPr sz="2250" b="1">
                <a:solidFill>
                  <a:srgbClr val="087E8B"/>
                </a:solidFill>
              </a:defRPr>
            </a:lvl2pPr>
            <a:lvl3pPr>
              <a:defRPr sz="2250" b="1">
                <a:solidFill>
                  <a:srgbClr val="087E8B"/>
                </a:solidFill>
              </a:defRPr>
            </a:lvl3pPr>
            <a:lvl4pPr>
              <a:defRPr sz="2250" b="1">
                <a:solidFill>
                  <a:srgbClr val="087E8B"/>
                </a:solidFill>
              </a:defRPr>
            </a:lvl4pPr>
            <a:lvl5pPr>
              <a:defRPr sz="2250" b="1">
                <a:solidFill>
                  <a:srgbClr val="087E8B"/>
                </a:solidFill>
              </a:defRPr>
            </a:lvl5pPr>
            <a:lvl6pPr>
              <a:defRPr sz="2250" b="1">
                <a:solidFill>
                  <a:srgbClr val="087E8B"/>
                </a:solidFill>
              </a:defRPr>
            </a:lvl6pPr>
            <a:lvl7pPr>
              <a:defRPr sz="2250" b="1">
                <a:solidFill>
                  <a:srgbClr val="087E8B"/>
                </a:solidFill>
              </a:defRPr>
            </a:lvl7pPr>
            <a:lvl8pPr>
              <a:defRPr sz="2250" b="1">
                <a:solidFill>
                  <a:srgbClr val="087E8B"/>
                </a:solidFill>
              </a:defRPr>
            </a:lvl8pPr>
            <a:lvl9pPr>
              <a:defRPr sz="2250" b="1">
                <a:solidFill>
                  <a:srgbClr val="087E8B"/>
                </a:solidFill>
              </a:defRPr>
            </a:lvl9pPr>
          </a:lstStyle>
          <a:p xmlns:a="http://schemas.openxmlformats.org/drawingml/2006/main">
            <a:pPr>
              <a:defRPr sz="2250" b="1">
                <a:solidFill>
                  <a:srgbClr val="087E8B"/>
                </a:solidFill>
              </a:defRPr>
            </a:pPr>
            <a:r>
              <a:rPr sz="2250" b="1">
                <a:solidFill>
                  <a:srgbClr val="087E8B"/>
                </a:solidFill>
              </a:rPr>
              <a:t>Limits</a:t>
            </a:r>
          </a:p>
        </p:txBody>
      </p:sp>
      <p:sp>
        <p:nvSpPr>
          <p:cNvPr id="8" name="">
            <a:extLst xmlns:a="http://schemas.openxmlformats.org/drawingml/2006/main">
              <a:ext uri="{FF2B5EF4-FFF2-40B4-BE49-F238E27FC236}">
                <a16:creationId xmlns:a16="http://schemas.microsoft.com/office/drawing/2014/main" id="{9934A118-F196-4E36-B2B6-4B4F16C798CA}"/>
              </a:ext>
            </a:extLst>
          </p:cNvPr>
          <p:cNvSpPr>
            <a:spLocks xmlns:a="http://schemas.openxmlformats.org/drawingml/2006/main" noGrp="1"/>
          </p:cNvSpPr>
          <p:nvPr/>
        </p:nvSpPr>
        <p:spPr>
          <a:xfrm xmlns:a="http://schemas.openxmlformats.org/drawingml/2006/main">
            <a:off x="685800" y="4352925"/>
            <a:ext cx="10572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0">
                <a:solidFill>
                  <a:srgbClr val="132F46"/>
                </a:solidFill>
              </a:defRPr>
            </a:defPPr>
            <a:lvl1pPr>
              <a:defRPr sz="2250" b="0">
                <a:solidFill>
                  <a:srgbClr val="132F46"/>
                </a:solidFill>
              </a:defRPr>
            </a:lvl1pPr>
            <a:lvl2pPr>
              <a:defRPr sz="2250" b="0">
                <a:solidFill>
                  <a:srgbClr val="132F46"/>
                </a:solidFill>
              </a:defRPr>
            </a:lvl2pPr>
            <a:lvl3pPr>
              <a:defRPr sz="2250" b="0">
                <a:solidFill>
                  <a:srgbClr val="132F46"/>
                </a:solidFill>
              </a:defRPr>
            </a:lvl3pPr>
            <a:lvl4pPr>
              <a:defRPr sz="2250" b="0">
                <a:solidFill>
                  <a:srgbClr val="132F46"/>
                </a:solidFill>
              </a:defRPr>
            </a:lvl4pPr>
            <a:lvl5pPr>
              <a:defRPr sz="2250" b="0">
                <a:solidFill>
                  <a:srgbClr val="132F46"/>
                </a:solidFill>
              </a:defRPr>
            </a:lvl5pPr>
            <a:lvl6pPr>
              <a:defRPr sz="2250" b="0">
                <a:solidFill>
                  <a:srgbClr val="132F46"/>
                </a:solidFill>
              </a:defRPr>
            </a:lvl6pPr>
            <a:lvl7pPr>
              <a:defRPr sz="2250" b="0">
                <a:solidFill>
                  <a:srgbClr val="132F46"/>
                </a:solidFill>
              </a:defRPr>
            </a:lvl7pPr>
            <a:lvl8pPr>
              <a:defRPr sz="2250" b="0">
                <a:solidFill>
                  <a:srgbClr val="132F46"/>
                </a:solidFill>
              </a:defRPr>
            </a:lvl8pPr>
            <a:lvl9pPr>
              <a:defRPr sz="2250" b="0">
                <a:solidFill>
                  <a:srgbClr val="132F46"/>
                </a:solidFill>
              </a:defRPr>
            </a:lvl9pPr>
          </a:lstStyle>
          <a:p xmlns:a="http://schemas.openxmlformats.org/drawingml/2006/main">
            <a:pPr>
              <a:defRPr sz="2250" b="0">
                <a:solidFill>
                  <a:srgbClr val="132F46"/>
                </a:solidFill>
              </a:defRPr>
            </a:pPr>
            <a:r>
              <a:rPr sz="2250" b="0">
                <a:solidFill>
                  <a:srgbClr val="132F46"/>
                </a:solidFill>
              </a:rPr>
              <a:t>Historical sample, scarce classes and a reused internal test split</a:t>
            </a:r>
          </a:p>
          <a:p xmlns:a="http://schemas.openxmlformats.org/drawingml/2006/main">
            <a:pPr>
              <a:defRPr sz="2250" b="0">
                <a:solidFill>
                  <a:srgbClr val="132F46"/>
                </a:solidFill>
              </a:defRPr>
            </a:pPr>
            <a:r>
              <a:rPr sz="2250" b="0">
                <a:solidFill>
                  <a:srgbClr val="132F46"/>
                </a:solidFill>
              </a:rPr>
              <a:t>Live capture and unknown-attack detection remain future work</a:t>
            </a:r>
          </a:p>
        </p:txBody>
      </p:sp>
    </p:spTree>
    <p:extLst>
      <p:ext uri="{BB962C8B-B14F-4D97-AF65-F5344CB8AC3E}">
        <p14:creationId xmlns:p14="http://schemas.microsoft.com/office/powerpoint/2010/main" val="494602356"/>
      </p:ext>
    </p:extLst>
  </p:cSld>
</p:sld>
</file>

<file path=ppt/slides/slide17.xml><?xml version="1.0" encoding="utf-8"?>
<p:sld xmlns:p="http://schemas.openxmlformats.org/presentationml/2006/main">
  <p:cSld>
    <p:bg>
      <p:bgPr>
        <a:solidFill xmlns:a="http://schemas.openxmlformats.org/drawingml/2006/main">
          <a:srgbClr val="F8FAFC"/>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BE23484-712A-4E23-A24C-1DD636C702E0}"/>
              </a:ext>
            </a:extLst>
          </p:cNvPr>
          <p:cNvSpPr>
            <a:spLocks xmlns:a="http://schemas.openxmlformats.org/drawingml/2006/main" noGrp="1"/>
          </p:cNvSpPr>
          <p:nvPr/>
        </p:nvSpPr>
        <p:spPr>
          <a:xfrm xmlns:a="http://schemas.openxmlformats.org/drawingml/2006/main">
            <a:off x="609600" y="266700"/>
            <a:ext cx="10001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1">
                <a:solidFill>
                  <a:srgbClr val="087E8B"/>
                </a:solidFill>
              </a:defRPr>
            </a:defPPr>
            <a:lvl1pPr>
              <a:defRPr sz="1200" b="1">
                <a:solidFill>
                  <a:srgbClr val="087E8B"/>
                </a:solidFill>
              </a:defRPr>
            </a:lvl1pPr>
            <a:lvl2pPr>
              <a:defRPr sz="1200" b="1">
                <a:solidFill>
                  <a:srgbClr val="087E8B"/>
                </a:solidFill>
              </a:defRPr>
            </a:lvl2pPr>
            <a:lvl3pPr>
              <a:defRPr sz="1200" b="1">
                <a:solidFill>
                  <a:srgbClr val="087E8B"/>
                </a:solidFill>
              </a:defRPr>
            </a:lvl3pPr>
            <a:lvl4pPr>
              <a:defRPr sz="1200" b="1">
                <a:solidFill>
                  <a:srgbClr val="087E8B"/>
                </a:solidFill>
              </a:defRPr>
            </a:lvl4pPr>
            <a:lvl5pPr>
              <a:defRPr sz="1200" b="1">
                <a:solidFill>
                  <a:srgbClr val="087E8B"/>
                </a:solidFill>
              </a:defRPr>
            </a:lvl5pPr>
            <a:lvl6pPr>
              <a:defRPr sz="1200" b="1">
                <a:solidFill>
                  <a:srgbClr val="087E8B"/>
                </a:solidFill>
              </a:defRPr>
            </a:lvl6pPr>
            <a:lvl7pPr>
              <a:defRPr sz="1200" b="1">
                <a:solidFill>
                  <a:srgbClr val="087E8B"/>
                </a:solidFill>
              </a:defRPr>
            </a:lvl7pPr>
            <a:lvl8pPr>
              <a:defRPr sz="1200" b="1">
                <a:solidFill>
                  <a:srgbClr val="087E8B"/>
                </a:solidFill>
              </a:defRPr>
            </a:lvl8pPr>
            <a:lvl9pPr>
              <a:defRPr sz="1200" b="1">
                <a:solidFill>
                  <a:srgbClr val="087E8B"/>
                </a:solidFill>
              </a:defRPr>
            </a:lvl9pPr>
          </a:lstStyle>
          <a:p xmlns:a="http://schemas.openxmlformats.org/drawingml/2006/main">
            <a:pPr>
              <a:defRPr sz="1200" b="1">
                <a:solidFill>
                  <a:srgbClr val="087E8B"/>
                </a:solidFill>
              </a:defRPr>
            </a:pPr>
            <a:r>
              <a:rPr sz="1200" b="1">
                <a:solidFill>
                  <a:srgbClr val="087E8B"/>
                </a:solidFill>
              </a:rPr>
              <a:t>PDEU   /   MACHINE LEARNING LABORATORY</a:t>
            </a:r>
          </a:p>
        </p:txBody>
      </p:sp>
      <p:sp>
        <p:nvSpPr>
          <p:cNvPr id="2" name="">
            <a:extLst xmlns:a="http://schemas.openxmlformats.org/drawingml/2006/main">
              <a:ext uri="{FF2B5EF4-FFF2-40B4-BE49-F238E27FC236}">
                <a16:creationId xmlns:a16="http://schemas.microsoft.com/office/drawing/2014/main" id="{0B103E2B-5B7A-4642-B723-200104025D24}"/>
              </a:ext>
            </a:extLst>
          </p:cNvPr>
          <p:cNvSpPr>
            <a:spLocks xmlns:a="http://schemas.openxmlformats.org/drawingml/2006/main" noGrp="1"/>
          </p:cNvSpPr>
          <p:nvPr/>
        </p:nvSpPr>
        <p:spPr>
          <a:xfrm xmlns:a="http://schemas.openxmlformats.org/drawingml/2006/main">
            <a:off x="609600" y="762000"/>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150" b="1">
                <a:solidFill>
                  <a:srgbClr val="132F46"/>
                </a:solidFill>
              </a:defRPr>
            </a:defPPr>
            <a:lvl1pPr>
              <a:defRPr sz="3150" b="1">
                <a:solidFill>
                  <a:srgbClr val="132F46"/>
                </a:solidFill>
              </a:defRPr>
            </a:lvl1pPr>
            <a:lvl2pPr>
              <a:defRPr sz="3150" b="1">
                <a:solidFill>
                  <a:srgbClr val="132F46"/>
                </a:solidFill>
              </a:defRPr>
            </a:lvl2pPr>
            <a:lvl3pPr>
              <a:defRPr sz="3150" b="1">
                <a:solidFill>
                  <a:srgbClr val="132F46"/>
                </a:solidFill>
              </a:defRPr>
            </a:lvl3pPr>
            <a:lvl4pPr>
              <a:defRPr sz="3150" b="1">
                <a:solidFill>
                  <a:srgbClr val="132F46"/>
                </a:solidFill>
              </a:defRPr>
            </a:lvl4pPr>
            <a:lvl5pPr>
              <a:defRPr sz="3150" b="1">
                <a:solidFill>
                  <a:srgbClr val="132F46"/>
                </a:solidFill>
              </a:defRPr>
            </a:lvl5pPr>
            <a:lvl6pPr>
              <a:defRPr sz="3150" b="1">
                <a:solidFill>
                  <a:srgbClr val="132F46"/>
                </a:solidFill>
              </a:defRPr>
            </a:lvl6pPr>
            <a:lvl7pPr>
              <a:defRPr sz="3150" b="1">
                <a:solidFill>
                  <a:srgbClr val="132F46"/>
                </a:solidFill>
              </a:defRPr>
            </a:lvl7pPr>
            <a:lvl8pPr>
              <a:defRPr sz="3150" b="1">
                <a:solidFill>
                  <a:srgbClr val="132F46"/>
                </a:solidFill>
              </a:defRPr>
            </a:lvl8pPr>
            <a:lvl9pPr>
              <a:defRPr sz="3150" b="1">
                <a:solidFill>
                  <a:srgbClr val="132F46"/>
                </a:solidFill>
              </a:defRPr>
            </a:lvl9pPr>
          </a:lstStyle>
          <a:p xmlns:a="http://schemas.openxmlformats.org/drawingml/2006/main">
            <a:pPr>
              <a:defRPr sz="3150" b="1">
                <a:solidFill>
                  <a:srgbClr val="132F46"/>
                </a:solidFill>
              </a:defRPr>
            </a:pPr>
            <a:r>
              <a:rPr sz="3150" b="1">
                <a:solidFill>
                  <a:srgbClr val="132F46"/>
                </a:solidFill>
              </a:rPr>
              <a:t>References</a:t>
            </a:r>
          </a:p>
        </p:txBody>
      </p:sp>
      <p:sp>
        <p:nvSpPr>
          <p:cNvPr id="3" name="">
            <a:extLst xmlns:a="http://schemas.openxmlformats.org/drawingml/2006/main">
              <a:ext uri="{FF2B5EF4-FFF2-40B4-BE49-F238E27FC236}">
                <a16:creationId xmlns:a16="http://schemas.microsoft.com/office/drawing/2014/main" id="{D87A119F-9178-4CE4-B0D3-E5CA662BEDBA}"/>
              </a:ext>
            </a:extLst>
          </p:cNvPr>
          <p:cNvSpPr>
            <a:spLocks xmlns:a="http://schemas.openxmlformats.org/drawingml/2006/main" noGrp="1"/>
          </p:cNvSpPr>
          <p:nvPr/>
        </p:nvSpPr>
        <p:spPr>
          <a:xfrm xmlns:a="http://schemas.openxmlformats.org/drawingml/2006/main">
            <a:off x="609600" y="6419850"/>
            <a:ext cx="857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Payas Vaishnav   •   23BCP430</a:t>
            </a:r>
          </a:p>
        </p:txBody>
      </p:sp>
      <p:sp>
        <p:nvSpPr>
          <p:cNvPr id="4" name="">
            <a:extLst xmlns:a="http://schemas.openxmlformats.org/drawingml/2006/main">
              <a:ext uri="{FF2B5EF4-FFF2-40B4-BE49-F238E27FC236}">
                <a16:creationId xmlns:a16="http://schemas.microsoft.com/office/drawing/2014/main" id="{6E4995B1-2C54-40BD-B1CC-ABEF2D2FA25C}"/>
              </a:ext>
            </a:extLst>
          </p:cNvPr>
          <p:cNvSpPr>
            <a:spLocks xmlns:a="http://schemas.openxmlformats.org/drawingml/2006/main" noGrp="1"/>
          </p:cNvSpPr>
          <p:nvPr/>
        </p:nvSpPr>
        <p:spPr>
          <a:xfrm xmlns:a="http://schemas.openxmlformats.org/drawingml/2006/main">
            <a:off x="11049000" y="6419850"/>
            <a:ext cx="571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86B7B"/>
                </a:solidFill>
              </a:defRPr>
            </a:defPPr>
            <a:lvl1pPr>
              <a:defRPr sz="1125" b="0">
                <a:solidFill>
                  <a:srgbClr val="586B7B"/>
                </a:solidFill>
              </a:defRPr>
            </a:lvl1pPr>
            <a:lvl2pPr>
              <a:defRPr sz="1125" b="0">
                <a:solidFill>
                  <a:srgbClr val="586B7B"/>
                </a:solidFill>
              </a:defRPr>
            </a:lvl2pPr>
            <a:lvl3pPr>
              <a:defRPr sz="1125" b="0">
                <a:solidFill>
                  <a:srgbClr val="586B7B"/>
                </a:solidFill>
              </a:defRPr>
            </a:lvl3pPr>
            <a:lvl4pPr>
              <a:defRPr sz="1125" b="0">
                <a:solidFill>
                  <a:srgbClr val="586B7B"/>
                </a:solidFill>
              </a:defRPr>
            </a:lvl4pPr>
            <a:lvl5pPr>
              <a:defRPr sz="1125" b="0">
                <a:solidFill>
                  <a:srgbClr val="586B7B"/>
                </a:solidFill>
              </a:defRPr>
            </a:lvl5pPr>
            <a:lvl6pPr>
              <a:defRPr sz="1125" b="0">
                <a:solidFill>
                  <a:srgbClr val="586B7B"/>
                </a:solidFill>
              </a:defRPr>
            </a:lvl6pPr>
            <a:lvl7pPr>
              <a:defRPr sz="1125" b="0">
                <a:solidFill>
                  <a:srgbClr val="586B7B"/>
                </a:solidFill>
              </a:defRPr>
            </a:lvl7pPr>
            <a:lvl8pPr>
              <a:defRPr sz="1125" b="0">
                <a:solidFill>
                  <a:srgbClr val="586B7B"/>
                </a:solidFill>
              </a:defRPr>
            </a:lvl8pPr>
            <a:lvl9pPr>
              <a:defRPr sz="1125" b="0">
                <a:solidFill>
                  <a:srgbClr val="586B7B"/>
                </a:solidFill>
              </a:defRPr>
            </a:lvl9pPr>
          </a:lstStyle>
          <a:p xmlns:a="http://schemas.openxmlformats.org/drawingml/2006/main">
            <a:pPr>
              <a:defRPr sz="1125" b="0">
                <a:solidFill>
                  <a:srgbClr val="586B7B"/>
                </a:solidFill>
              </a:defRPr>
            </a:pPr>
            <a:r>
              <a:rPr sz="1125" b="0">
                <a:solidFill>
                  <a:srgbClr val="586B7B"/>
                </a:solidFill>
              </a:rPr>
              <a:t>17</a:t>
            </a:r>
          </a:p>
        </p:txBody>
      </p:sp>
      <p:sp>
        <p:nvSpPr>
          <p:cNvPr id="5" name="">
            <a:extLst xmlns:a="http://schemas.openxmlformats.org/drawingml/2006/main">
              <a:ext uri="{FF2B5EF4-FFF2-40B4-BE49-F238E27FC236}">
                <a16:creationId xmlns:a16="http://schemas.microsoft.com/office/drawing/2014/main" id="{30B7CCA0-AEC0-4969-A256-45607F9EA8FF}"/>
              </a:ext>
            </a:extLst>
          </p:cNvPr>
          <p:cNvSpPr>
            <a:spLocks xmlns:a="http://schemas.openxmlformats.org/drawingml/2006/main" noGrp="1"/>
          </p:cNvSpPr>
          <p:nvPr/>
        </p:nvSpPr>
        <p:spPr>
          <a:xfrm xmlns:a="http://schemas.openxmlformats.org/drawingml/2006/main">
            <a:off x="685800" y="1847850"/>
            <a:ext cx="10668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132F46"/>
                </a:solidFill>
              </a:defRPr>
            </a:defPPr>
            <a:lvl1pPr>
              <a:defRPr sz="1800" b="0">
                <a:solidFill>
                  <a:srgbClr val="132F46"/>
                </a:solidFill>
              </a:defRPr>
            </a:lvl1pPr>
            <a:lvl2pPr>
              <a:defRPr sz="1800" b="0">
                <a:solidFill>
                  <a:srgbClr val="132F46"/>
                </a:solidFill>
              </a:defRPr>
            </a:lvl2pPr>
            <a:lvl3pPr>
              <a:defRPr sz="1800" b="0">
                <a:solidFill>
                  <a:srgbClr val="132F46"/>
                </a:solidFill>
              </a:defRPr>
            </a:lvl3pPr>
            <a:lvl4pPr>
              <a:defRPr sz="1800" b="0">
                <a:solidFill>
                  <a:srgbClr val="132F46"/>
                </a:solidFill>
              </a:defRPr>
            </a:lvl4pPr>
            <a:lvl5pPr>
              <a:defRPr sz="1800" b="0">
                <a:solidFill>
                  <a:srgbClr val="132F46"/>
                </a:solidFill>
              </a:defRPr>
            </a:lvl5pPr>
            <a:lvl6pPr>
              <a:defRPr sz="1800" b="0">
                <a:solidFill>
                  <a:srgbClr val="132F46"/>
                </a:solidFill>
              </a:defRPr>
            </a:lvl6pPr>
            <a:lvl7pPr>
              <a:defRPr sz="1800" b="0">
                <a:solidFill>
                  <a:srgbClr val="132F46"/>
                </a:solidFill>
              </a:defRPr>
            </a:lvl7pPr>
            <a:lvl8pPr>
              <a:defRPr sz="1800" b="0">
                <a:solidFill>
                  <a:srgbClr val="132F46"/>
                </a:solidFill>
              </a:defRPr>
            </a:lvl8pPr>
            <a:lvl9pPr>
              <a:defRPr sz="1800" b="0">
                <a:solidFill>
                  <a:srgbClr val="132F46"/>
                </a:solidFill>
              </a:defRPr>
            </a:lvl9pPr>
          </a:lstStyle>
          <a:p xmlns:a="http://schemas.openxmlformats.org/drawingml/2006/main">
            <a:pPr>
              <a:defRPr sz="1800" b="0">
                <a:solidFill>
                  <a:srgbClr val="132F46"/>
                </a:solidFill>
              </a:defRPr>
            </a:pPr>
            <a:r>
              <a:rPr sz="1800" b="0">
                <a:solidFill>
                  <a:srgbClr val="132F46"/>
                </a:solidFill>
              </a:rPr>
              <a:t>Yang et al.  Tree-Based Intelligent Intrusion Detection System in Internet of Vehicles</a:t>
            </a:r>
          </a:p>
          <a:p xmlns:a="http://schemas.openxmlformats.org/drawingml/2006/main">
            <a:pPr>
              <a:defRPr sz="1800" b="0">
                <a:solidFill>
                  <a:srgbClr val="132F46"/>
                </a:solidFill>
              </a:defRPr>
            </a:pPr>
            <a:r>
              <a:rPr sz="1800" b="0">
                <a:solidFill>
                  <a:srgbClr val="132F46"/>
                </a:solidFill>
              </a:rPr>
              <a:t>IEEE GLOBECOM 2019  •  DOI 10.1109/GLOBECOM38437.2019.9013892</a:t>
            </a:r>
          </a:p>
          <a:p xmlns:a="http://schemas.openxmlformats.org/drawingml/2006/main">
            <a:r>
              <a:t/>
            </a:r>
          </a:p>
          <a:p xmlns:a="http://schemas.openxmlformats.org/drawingml/2006/main">
            <a:pPr>
              <a:defRPr sz="1800" b="0">
                <a:solidFill>
                  <a:srgbClr val="132F46"/>
                </a:solidFill>
              </a:defRPr>
            </a:pPr>
            <a:r>
              <a:rPr sz="1800" b="0">
                <a:solidFill>
                  <a:srgbClr val="132F46"/>
                </a:solidFill>
              </a:rPr>
              <a:t>Western OC2 Lab  •  IDS-ML repository and sampled CSV</a:t>
            </a:r>
          </a:p>
          <a:p xmlns:a="http://schemas.openxmlformats.org/drawingml/2006/main">
            <a:pPr>
              <a:defRPr sz="1800" b="0">
                <a:solidFill>
                  <a:srgbClr val="132F46"/>
                </a:solidFill>
              </a:defRPr>
            </a:pPr>
            <a:r>
              <a:rPr sz="1800" b="0">
                <a:solidFill>
                  <a:srgbClr val="132F46"/>
                </a:solidFill>
              </a:rPr>
              <a:t>github.com/Western-OC2-Lab/Intrusion-Detection-System-Using-Machine-Learning</a:t>
            </a:r>
          </a:p>
          <a:p xmlns:a="http://schemas.openxmlformats.org/drawingml/2006/main">
            <a:r>
              <a:t/>
            </a:r>
          </a:p>
          <a:p xmlns:a="http://schemas.openxmlformats.org/drawingml/2006/main">
            <a:pPr>
              <a:defRPr sz="1800" b="0">
                <a:solidFill>
                  <a:srgbClr val="132F46"/>
                </a:solidFill>
              </a:defRPr>
            </a:pPr>
            <a:r>
              <a:rPr sz="1800" b="0">
                <a:solidFill>
                  <a:srgbClr val="132F46"/>
                </a:solidFill>
              </a:rPr>
              <a:t>Canadian Institute for Cybersecurity  •  CICIDS2017</a:t>
            </a:r>
          </a:p>
          <a:p xmlns:a="http://schemas.openxmlformats.org/drawingml/2006/main">
            <a:pPr>
              <a:defRPr sz="1800" b="0">
                <a:solidFill>
                  <a:srgbClr val="132F46"/>
                </a:solidFill>
              </a:defRPr>
            </a:pPr>
            <a:r>
              <a:rPr sz="1800" b="0">
                <a:solidFill>
                  <a:srgbClr val="132F46"/>
                </a:solidFill>
              </a:rPr>
              <a:t>unb.ca/cic/datasets/ids-2017.html</a:t>
            </a:r>
          </a:p>
          <a:p xmlns:a="http://schemas.openxmlformats.org/drawingml/2006/main">
            <a:r>
              <a:t/>
            </a:r>
          </a:p>
          <a:p xmlns:a="http://schemas.openxmlformats.org/drawingml/2006/main">
            <a:pPr>
              <a:defRPr sz="1800" b="0">
                <a:solidFill>
                  <a:srgbClr val="132F46"/>
                </a:solidFill>
              </a:defRPr>
            </a:pPr>
            <a:r>
              <a:rPr sz="1800" b="0">
                <a:solidFill>
                  <a:srgbClr val="132F46"/>
                </a:solidFill>
              </a:rPr>
              <a:t>scikit-learn documentation  •  Ensemble methods and cross-validation</a:t>
            </a:r>
          </a:p>
          <a:p xmlns:a="http://schemas.openxmlformats.org/drawingml/2006/main">
            <a:pPr>
              <a:defRPr sz="1800" b="0">
                <a:solidFill>
                  <a:srgbClr val="132F46"/>
                </a:solidFill>
              </a:defRPr>
            </a:pPr>
            <a:r>
              <a:rPr sz="1800" b="0">
                <a:solidFill>
                  <a:srgbClr val="132F46"/>
                </a:solidFill>
              </a:rPr>
              <a:t>scikit-learn.org/stable/modules/</a:t>
            </a:r>
          </a:p>
        </p:txBody>
      </p:sp>
    </p:spTree>
    <p:extLst>
      <p:ext uri="{BB962C8B-B14F-4D97-AF65-F5344CB8AC3E}">
        <p14:creationId xmlns:p14="http://schemas.microsoft.com/office/powerpoint/2010/main" val="78419848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2026-10-22T17:34:37.5370000Z</dcterms:created>
  <dcterms:modified xsi:type="dcterms:W3CDTF">2026-10-22T17:34:37.5370000Z</dcterms:modified>
</coreProperties>
</file>